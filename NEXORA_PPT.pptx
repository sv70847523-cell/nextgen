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Oval 1"/>
          <p:cNvSpPr/>
          <p:nvPr/>
        </p:nvSpPr>
        <p:spPr>
          <a:xfrm>
            <a:off x="8869680" y="457200"/>
            <a:ext cx="1828800" cy="1828800"/>
          </a:xfrm>
          <a:prstGeom prst="ellipse">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2011680"/>
            <a:ext cx="1097280" cy="1097280"/>
          </a:xfrm>
          <a:prstGeom prst="ellipse">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046720" y="2743200"/>
            <a:ext cx="685800" cy="685800"/>
          </a:xfrm>
          <a:prstGeom prst="ellipse">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241280" y="3657600"/>
            <a:ext cx="1554480" cy="1554480"/>
          </a:xfrm>
          <a:prstGeom prst="ellipse">
            <a:avLst/>
          </a:prstGeom>
          <a:solidFill>
            <a:srgbClr val="22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
            <a:ext cx="6217920" cy="320040"/>
          </a:xfrm>
          <a:prstGeom prst="rect">
            <a:avLst/>
          </a:prstGeom>
          <a:noFill/>
        </p:spPr>
        <p:txBody>
          <a:bodyPr wrap="square" lIns="45720" rIns="45720">
            <a:spAutoFit/>
          </a:bodyPr>
          <a:lstStyle/>
          <a:p>
            <a:pPr>
              <a:defRPr sz="1200" b="1">
                <a:solidFill>
                  <a:srgbClr val="27D7BE"/>
                </a:solidFill>
                <a:latin typeface="Aptos"/>
              </a:defRPr>
            </a:pPr>
            <a:r>
              <a:t>PROJECT PRESENTATION  |  2026</a:t>
            </a:r>
          </a:p>
        </p:txBody>
      </p:sp>
      <p:sp>
        <p:nvSpPr>
          <p:cNvPr id="7" name="TextBox 6"/>
          <p:cNvSpPr txBox="1"/>
          <p:nvPr/>
        </p:nvSpPr>
        <p:spPr>
          <a:xfrm>
            <a:off x="731520" y="1417320"/>
            <a:ext cx="6766560" cy="615553"/>
          </a:xfrm>
          <a:prstGeom prst="rect">
            <a:avLst/>
          </a:prstGeom>
          <a:noFill/>
        </p:spPr>
        <p:txBody>
          <a:bodyPr wrap="square" lIns="45720" rIns="45720">
            <a:spAutoFit/>
          </a:bodyPr>
          <a:lstStyle/>
          <a:p>
            <a:pPr>
              <a:defRPr sz="3400" b="1">
                <a:solidFill>
                  <a:srgbClr val="F5F8FF"/>
                </a:solidFill>
                <a:latin typeface="Aptos"/>
              </a:defRPr>
            </a:pPr>
            <a:r>
              <a:rPr dirty="0"/>
              <a:t>NEXORA</a:t>
            </a:r>
          </a:p>
        </p:txBody>
      </p:sp>
      <p:sp>
        <p:nvSpPr>
          <p:cNvPr id="8" name="TextBox 7"/>
          <p:cNvSpPr txBox="1"/>
          <p:nvPr/>
        </p:nvSpPr>
        <p:spPr>
          <a:xfrm>
            <a:off x="777240" y="3246120"/>
            <a:ext cx="6217920" cy="731520"/>
          </a:xfrm>
          <a:prstGeom prst="rect">
            <a:avLst/>
          </a:prstGeom>
          <a:noFill/>
        </p:spPr>
        <p:txBody>
          <a:bodyPr wrap="square" lIns="45720" rIns="45720">
            <a:spAutoFit/>
          </a:bodyPr>
          <a:lstStyle/>
          <a:p>
            <a:pPr>
              <a:defRPr sz="2000" b="0">
                <a:solidFill>
                  <a:srgbClr val="B7C3DA"/>
                </a:solidFill>
                <a:latin typeface="Aptos"/>
              </a:defRPr>
            </a:pPr>
            <a:r>
              <a:t>One digital workspace. Practical tools for study, work and everyday tasks.</a:t>
            </a:r>
          </a:p>
        </p:txBody>
      </p:sp>
      <p:sp>
        <p:nvSpPr>
          <p:cNvPr id="9" name="Rectangle 8"/>
          <p:cNvSpPr/>
          <p:nvPr/>
        </p:nvSpPr>
        <p:spPr>
          <a:xfrm>
            <a:off x="777240" y="4251960"/>
            <a:ext cx="1097280" cy="54864"/>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572000"/>
            <a:ext cx="6217920" cy="731520"/>
          </a:xfrm>
          <a:prstGeom prst="rect">
            <a:avLst/>
          </a:prstGeom>
          <a:noFill/>
        </p:spPr>
        <p:txBody>
          <a:bodyPr wrap="square" lIns="45720" rIns="45720">
            <a:spAutoFit/>
          </a:bodyPr>
          <a:lstStyle/>
          <a:p>
            <a:pPr>
              <a:defRPr sz="1400" b="0">
                <a:solidFill>
                  <a:srgbClr val="F5F8FF"/>
                </a:solidFill>
                <a:latin typeface="Aptos"/>
              </a:defRPr>
            </a:pPr>
            <a:r>
              <a:rPr dirty="0"/>
              <a:t>Presented by: Shubham Kumar Verma</a:t>
            </a:r>
            <a:br>
              <a:rPr dirty="0"/>
            </a:br>
            <a:r>
              <a:rPr dirty="0"/>
              <a:t>Department / College: __________________</a:t>
            </a:r>
          </a:p>
        </p:txBody>
      </p:sp>
      <p:sp>
        <p:nvSpPr>
          <p:cNvPr id="11" name="TextBox 10"/>
          <p:cNvSpPr txBox="1"/>
          <p:nvPr/>
        </p:nvSpPr>
        <p:spPr>
          <a:xfrm>
            <a:off x="777240" y="6263640"/>
            <a:ext cx="4572000" cy="228600"/>
          </a:xfrm>
          <a:prstGeom prst="rect">
            <a:avLst/>
          </a:prstGeom>
          <a:noFill/>
        </p:spPr>
        <p:txBody>
          <a:bodyPr wrap="square" lIns="45720" rIns="45720">
            <a:spAutoFit/>
          </a:bodyPr>
          <a:lstStyle/>
          <a:p>
            <a:pPr>
              <a:defRPr sz="900" b="0">
                <a:solidFill>
                  <a:srgbClr val="B7C3DA"/>
                </a:solidFill>
                <a:latin typeface="Aptos"/>
              </a:defRPr>
            </a:pPr>
            <a:r>
              <a:t>EDITABLE POWERPOINT • PROJECT OVERVIEW + SPEAKING GUIDE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What is Nexora Pro Max Enhanced?</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02</a:t>
            </a:r>
          </a:p>
        </p:txBody>
      </p:sp>
      <p:sp>
        <p:nvSpPr>
          <p:cNvPr id="7" name="Rounded Rectangle 6"/>
          <p:cNvSpPr/>
          <p:nvPr/>
        </p:nvSpPr>
        <p:spPr>
          <a:xfrm>
            <a:off x="640080" y="1645920"/>
            <a:ext cx="3520440" cy="18288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810512"/>
            <a:ext cx="64008" cy="149961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810512"/>
            <a:ext cx="3154680" cy="384048"/>
          </a:xfrm>
          <a:prstGeom prst="rect">
            <a:avLst/>
          </a:prstGeom>
          <a:noFill/>
        </p:spPr>
        <p:txBody>
          <a:bodyPr wrap="square" lIns="45720" rIns="45720">
            <a:spAutoFit/>
          </a:bodyPr>
          <a:lstStyle/>
          <a:p>
            <a:pPr>
              <a:defRPr sz="1900" b="1">
                <a:solidFill>
                  <a:srgbClr val="F5F8FF"/>
                </a:solidFill>
                <a:latin typeface="Aptos"/>
              </a:defRPr>
            </a:pPr>
            <a:r>
              <a:t>A tool hub</a:t>
            </a:r>
          </a:p>
        </p:txBody>
      </p:sp>
      <p:sp>
        <p:nvSpPr>
          <p:cNvPr id="10" name="TextBox 9"/>
          <p:cNvSpPr txBox="1"/>
          <p:nvPr/>
        </p:nvSpPr>
        <p:spPr>
          <a:xfrm>
            <a:off x="841247" y="2304288"/>
            <a:ext cx="3136392" cy="1042416"/>
          </a:xfrm>
          <a:prstGeom prst="rect">
            <a:avLst/>
          </a:prstGeom>
          <a:noFill/>
        </p:spPr>
        <p:txBody>
          <a:bodyPr wrap="square" lIns="45720" rIns="45720">
            <a:spAutoFit/>
          </a:bodyPr>
          <a:lstStyle/>
          <a:p>
            <a:pPr>
              <a:defRPr sz="1400" b="0">
                <a:solidFill>
                  <a:srgbClr val="B7C3DA"/>
                </a:solidFill>
                <a:latin typeface="Aptos"/>
              </a:defRPr>
            </a:pPr>
            <a:r>
              <a:t>A website concept that brings common digital utilities together in one place.</a:t>
            </a:r>
          </a:p>
        </p:txBody>
      </p:sp>
      <p:sp>
        <p:nvSpPr>
          <p:cNvPr id="11" name="Rounded Rectangle 10"/>
          <p:cNvSpPr/>
          <p:nvPr/>
        </p:nvSpPr>
        <p:spPr>
          <a:xfrm>
            <a:off x="4343400" y="1645920"/>
            <a:ext cx="3520440" cy="18288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810512"/>
            <a:ext cx="64008" cy="149961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810512"/>
            <a:ext cx="3154680" cy="384048"/>
          </a:xfrm>
          <a:prstGeom prst="rect">
            <a:avLst/>
          </a:prstGeom>
          <a:noFill/>
        </p:spPr>
        <p:txBody>
          <a:bodyPr wrap="square" lIns="45720" rIns="45720">
            <a:spAutoFit/>
          </a:bodyPr>
          <a:lstStyle/>
          <a:p>
            <a:pPr>
              <a:defRPr sz="1900" b="1">
                <a:solidFill>
                  <a:srgbClr val="F5F8FF"/>
                </a:solidFill>
                <a:latin typeface="Aptos"/>
              </a:defRPr>
            </a:pPr>
            <a:r>
              <a:t>Less switching</a:t>
            </a:r>
          </a:p>
        </p:txBody>
      </p:sp>
      <p:sp>
        <p:nvSpPr>
          <p:cNvPr id="14" name="TextBox 13"/>
          <p:cNvSpPr txBox="1"/>
          <p:nvPr/>
        </p:nvSpPr>
        <p:spPr>
          <a:xfrm>
            <a:off x="4544568" y="2304288"/>
            <a:ext cx="3136392" cy="1042416"/>
          </a:xfrm>
          <a:prstGeom prst="rect">
            <a:avLst/>
          </a:prstGeom>
          <a:noFill/>
        </p:spPr>
        <p:txBody>
          <a:bodyPr wrap="square" lIns="45720" rIns="45720">
            <a:spAutoFit/>
          </a:bodyPr>
          <a:lstStyle/>
          <a:p>
            <a:pPr>
              <a:defRPr sz="1400" b="0">
                <a:solidFill>
                  <a:srgbClr val="B7C3DA"/>
                </a:solidFill>
                <a:latin typeface="Aptos"/>
              </a:defRPr>
            </a:pPr>
            <a:r>
              <a:t>Users can complete small everyday tasks without searching for a different website each time.</a:t>
            </a:r>
          </a:p>
        </p:txBody>
      </p:sp>
      <p:sp>
        <p:nvSpPr>
          <p:cNvPr id="15" name="Rounded Rectangle 14"/>
          <p:cNvSpPr/>
          <p:nvPr/>
        </p:nvSpPr>
        <p:spPr>
          <a:xfrm>
            <a:off x="8046720" y="1645920"/>
            <a:ext cx="3520440" cy="18288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10512"/>
            <a:ext cx="64008" cy="149961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810512"/>
            <a:ext cx="3154680" cy="384048"/>
          </a:xfrm>
          <a:prstGeom prst="rect">
            <a:avLst/>
          </a:prstGeom>
          <a:noFill/>
        </p:spPr>
        <p:txBody>
          <a:bodyPr wrap="square" lIns="45720" rIns="45720">
            <a:spAutoFit/>
          </a:bodyPr>
          <a:lstStyle/>
          <a:p>
            <a:pPr>
              <a:defRPr sz="1900" b="1">
                <a:solidFill>
                  <a:srgbClr val="F5F8FF"/>
                </a:solidFill>
                <a:latin typeface="Aptos"/>
              </a:defRPr>
            </a:pPr>
            <a:r>
              <a:t>Built for everyone</a:t>
            </a:r>
          </a:p>
        </p:txBody>
      </p:sp>
      <p:sp>
        <p:nvSpPr>
          <p:cNvPr id="18" name="TextBox 17"/>
          <p:cNvSpPr txBox="1"/>
          <p:nvPr/>
        </p:nvSpPr>
        <p:spPr>
          <a:xfrm>
            <a:off x="8247888" y="2304288"/>
            <a:ext cx="3136392" cy="1042416"/>
          </a:xfrm>
          <a:prstGeom prst="rect">
            <a:avLst/>
          </a:prstGeom>
          <a:noFill/>
        </p:spPr>
        <p:txBody>
          <a:bodyPr wrap="square" lIns="45720" rIns="45720">
            <a:spAutoFit/>
          </a:bodyPr>
          <a:lstStyle/>
          <a:p>
            <a:pPr>
              <a:defRPr sz="1400" b="0">
                <a:solidFill>
                  <a:srgbClr val="B7C3DA"/>
                </a:solidFill>
                <a:latin typeface="Aptos"/>
              </a:defRPr>
            </a:pPr>
            <a:r>
              <a:t>Students, teachers, job seekers, professionals and small-business owners can benefit.</a:t>
            </a:r>
          </a:p>
        </p:txBody>
      </p:sp>
      <p:sp>
        <p:nvSpPr>
          <p:cNvPr id="19" name="TextBox 18"/>
          <p:cNvSpPr txBox="1"/>
          <p:nvPr/>
        </p:nvSpPr>
        <p:spPr>
          <a:xfrm>
            <a:off x="822960" y="3977639"/>
            <a:ext cx="10698480" cy="1143000"/>
          </a:xfrm>
          <a:prstGeom prst="rect">
            <a:avLst/>
          </a:prstGeom>
          <a:noFill/>
        </p:spPr>
        <p:txBody>
          <a:bodyPr wrap="square" lIns="45720" rIns="45720">
            <a:spAutoFit/>
          </a:bodyPr>
          <a:lstStyle/>
          <a:p>
            <a:pPr>
              <a:defRPr sz="2400" b="1">
                <a:solidFill>
                  <a:srgbClr val="F5F8FF"/>
                </a:solidFill>
                <a:latin typeface="Aptos"/>
              </a:defRPr>
            </a:pPr>
            <a:r>
              <a:t>Core idea: make useful digital tasks easier to find, easier to understand and quicker to complete.</a:t>
            </a:r>
          </a:p>
        </p:txBody>
      </p:sp>
      <p:sp>
        <p:nvSpPr>
          <p:cNvPr id="20" name="TextBox 19"/>
          <p:cNvSpPr txBox="1"/>
          <p:nvPr/>
        </p:nvSpPr>
        <p:spPr>
          <a:xfrm>
            <a:off x="822960" y="5303520"/>
            <a:ext cx="10698480" cy="594360"/>
          </a:xfrm>
          <a:prstGeom prst="rect">
            <a:avLst/>
          </a:prstGeom>
          <a:noFill/>
        </p:spPr>
        <p:txBody>
          <a:bodyPr wrap="square" lIns="45720" rIns="45720">
            <a:spAutoFit/>
          </a:bodyPr>
          <a:lstStyle/>
          <a:p>
            <a:pPr>
              <a:defRPr sz="1400" b="0">
                <a:solidFill>
                  <a:srgbClr val="FFC75F"/>
                </a:solidFill>
                <a:latin typeface="Aptos"/>
              </a:defRPr>
            </a:pPr>
            <a:r>
              <a:t>Presenter line: “Nexora is designed as a convenient place for practical online tools, instead of visiting many separate sites.”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The problem we want to solve</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03</a:t>
            </a:r>
          </a:p>
        </p:txBody>
      </p:sp>
      <p:sp>
        <p:nvSpPr>
          <p:cNvPr id="7" name="Rounded Rectangle 6"/>
          <p:cNvSpPr/>
          <p:nvPr/>
        </p:nvSpPr>
        <p:spPr>
          <a:xfrm>
            <a:off x="685800" y="1691640"/>
            <a:ext cx="3474720" cy="233172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856232"/>
            <a:ext cx="64008" cy="2002536"/>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856232"/>
            <a:ext cx="3108960" cy="384048"/>
          </a:xfrm>
          <a:prstGeom prst="rect">
            <a:avLst/>
          </a:prstGeom>
          <a:noFill/>
        </p:spPr>
        <p:txBody>
          <a:bodyPr wrap="square" lIns="45720" rIns="45720">
            <a:spAutoFit/>
          </a:bodyPr>
          <a:lstStyle/>
          <a:p>
            <a:pPr>
              <a:defRPr sz="1900" b="1">
                <a:solidFill>
                  <a:srgbClr val="F5F8FF"/>
                </a:solidFill>
                <a:latin typeface="Aptos"/>
              </a:defRPr>
            </a:pPr>
            <a:r>
              <a:t>Scattered tools</a:t>
            </a:r>
          </a:p>
        </p:txBody>
      </p:sp>
      <p:sp>
        <p:nvSpPr>
          <p:cNvPr id="10" name="TextBox 9"/>
          <p:cNvSpPr txBox="1"/>
          <p:nvPr/>
        </p:nvSpPr>
        <p:spPr>
          <a:xfrm>
            <a:off x="886968" y="2350008"/>
            <a:ext cx="3090672" cy="1545336"/>
          </a:xfrm>
          <a:prstGeom prst="rect">
            <a:avLst/>
          </a:prstGeom>
          <a:noFill/>
        </p:spPr>
        <p:txBody>
          <a:bodyPr wrap="square" lIns="45720" rIns="45720">
            <a:spAutoFit/>
          </a:bodyPr>
          <a:lstStyle/>
          <a:p>
            <a:pPr>
              <a:defRPr sz="1400" b="0">
                <a:solidFill>
                  <a:srgbClr val="B7C3DA"/>
                </a:solidFill>
                <a:latin typeface="Aptos"/>
              </a:defRPr>
            </a:pPr>
            <a:r>
              <a:t>A student may need one site for PDFs, another for image resizing, and another for calculations.</a:t>
            </a:r>
          </a:p>
        </p:txBody>
      </p:sp>
      <p:sp>
        <p:nvSpPr>
          <p:cNvPr id="11" name="Rounded Rectangle 10"/>
          <p:cNvSpPr/>
          <p:nvPr/>
        </p:nvSpPr>
        <p:spPr>
          <a:xfrm>
            <a:off x="4370832" y="1691640"/>
            <a:ext cx="3474720" cy="233172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0832" y="1856232"/>
            <a:ext cx="64008" cy="200253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56232"/>
            <a:ext cx="3108960" cy="384048"/>
          </a:xfrm>
          <a:prstGeom prst="rect">
            <a:avLst/>
          </a:prstGeom>
          <a:noFill/>
        </p:spPr>
        <p:txBody>
          <a:bodyPr wrap="square" lIns="45720" rIns="45720">
            <a:spAutoFit/>
          </a:bodyPr>
          <a:lstStyle/>
          <a:p>
            <a:pPr>
              <a:defRPr sz="1900" b="1">
                <a:solidFill>
                  <a:srgbClr val="F5F8FF"/>
                </a:solidFill>
                <a:latin typeface="Aptos"/>
              </a:defRPr>
            </a:pPr>
            <a:r>
              <a:t>Wasted time</a:t>
            </a:r>
          </a:p>
        </p:txBody>
      </p:sp>
      <p:sp>
        <p:nvSpPr>
          <p:cNvPr id="14" name="TextBox 13"/>
          <p:cNvSpPr txBox="1"/>
          <p:nvPr/>
        </p:nvSpPr>
        <p:spPr>
          <a:xfrm>
            <a:off x="4572000" y="2350008"/>
            <a:ext cx="3090672" cy="1545336"/>
          </a:xfrm>
          <a:prstGeom prst="rect">
            <a:avLst/>
          </a:prstGeom>
          <a:noFill/>
        </p:spPr>
        <p:txBody>
          <a:bodyPr wrap="square" lIns="45720" rIns="45720">
            <a:spAutoFit/>
          </a:bodyPr>
          <a:lstStyle/>
          <a:p>
            <a:pPr>
              <a:defRPr sz="1400" b="0">
                <a:solidFill>
                  <a:srgbClr val="B7C3DA"/>
                </a:solidFill>
                <a:latin typeface="Aptos"/>
              </a:defRPr>
            </a:pPr>
            <a:r>
              <a:t>Finding the correct tool, learning a new interface and repeating steps can interrupt work.</a:t>
            </a:r>
          </a:p>
        </p:txBody>
      </p:sp>
      <p:sp>
        <p:nvSpPr>
          <p:cNvPr id="15" name="Rounded Rectangle 14"/>
          <p:cNvSpPr/>
          <p:nvPr/>
        </p:nvSpPr>
        <p:spPr>
          <a:xfrm>
            <a:off x="8046720" y="1691640"/>
            <a:ext cx="3474720" cy="233172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56232"/>
            <a:ext cx="64008" cy="200253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856232"/>
            <a:ext cx="3108960" cy="384048"/>
          </a:xfrm>
          <a:prstGeom prst="rect">
            <a:avLst/>
          </a:prstGeom>
          <a:noFill/>
        </p:spPr>
        <p:txBody>
          <a:bodyPr wrap="square" lIns="45720" rIns="45720">
            <a:spAutoFit/>
          </a:bodyPr>
          <a:lstStyle/>
          <a:p>
            <a:pPr>
              <a:defRPr sz="1900" b="1">
                <a:solidFill>
                  <a:srgbClr val="F5F8FF"/>
                </a:solidFill>
                <a:latin typeface="Aptos"/>
              </a:defRPr>
            </a:pPr>
            <a:r>
              <a:t>Unclear choices</a:t>
            </a:r>
          </a:p>
        </p:txBody>
      </p:sp>
      <p:sp>
        <p:nvSpPr>
          <p:cNvPr id="18" name="TextBox 17"/>
          <p:cNvSpPr txBox="1"/>
          <p:nvPr/>
        </p:nvSpPr>
        <p:spPr>
          <a:xfrm>
            <a:off x="8247888" y="2350008"/>
            <a:ext cx="3090672" cy="1545336"/>
          </a:xfrm>
          <a:prstGeom prst="rect">
            <a:avLst/>
          </a:prstGeom>
          <a:noFill/>
        </p:spPr>
        <p:txBody>
          <a:bodyPr wrap="square" lIns="45720" rIns="45720">
            <a:spAutoFit/>
          </a:bodyPr>
          <a:lstStyle/>
          <a:p>
            <a:pPr>
              <a:defRPr sz="1400" b="0">
                <a:solidFill>
                  <a:srgbClr val="B7C3DA"/>
                </a:solidFill>
                <a:latin typeface="Aptos"/>
              </a:defRPr>
            </a:pPr>
            <a:r>
              <a:t>Some users do not know which utility is appropriate for a simple task.</a:t>
            </a:r>
          </a:p>
        </p:txBody>
      </p:sp>
      <p:sp>
        <p:nvSpPr>
          <p:cNvPr id="19" name="TextBox 18"/>
          <p:cNvSpPr txBox="1"/>
          <p:nvPr/>
        </p:nvSpPr>
        <p:spPr>
          <a:xfrm>
            <a:off x="822960" y="4709160"/>
            <a:ext cx="10607040" cy="822960"/>
          </a:xfrm>
          <a:prstGeom prst="rect">
            <a:avLst/>
          </a:prstGeom>
          <a:noFill/>
        </p:spPr>
        <p:txBody>
          <a:bodyPr wrap="square" lIns="45720" rIns="45720">
            <a:spAutoFit/>
          </a:bodyPr>
          <a:lstStyle/>
          <a:p>
            <a:pPr>
              <a:defRPr sz="2100" b="1">
                <a:solidFill>
                  <a:srgbClr val="27D7BE"/>
                </a:solidFill>
                <a:latin typeface="Aptos"/>
              </a:defRPr>
            </a:pPr>
            <a:r>
              <a:t>Opportunity: a clear interface, categorized tools and simple step-by-step workflows.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Tool categories and what they do</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04</a:t>
            </a:r>
          </a:p>
        </p:txBody>
      </p:sp>
      <p:sp>
        <p:nvSpPr>
          <p:cNvPr id="7" name="Rounded Rectangle 6"/>
          <p:cNvSpPr/>
          <p:nvPr/>
        </p:nvSpPr>
        <p:spPr>
          <a:xfrm>
            <a:off x="640080" y="1645920"/>
            <a:ext cx="2606040" cy="16916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810512"/>
            <a:ext cx="64008" cy="136245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810512"/>
            <a:ext cx="2240280" cy="384048"/>
          </a:xfrm>
          <a:prstGeom prst="rect">
            <a:avLst/>
          </a:prstGeom>
          <a:noFill/>
        </p:spPr>
        <p:txBody>
          <a:bodyPr wrap="square" lIns="45720" rIns="45720">
            <a:spAutoFit/>
          </a:bodyPr>
          <a:lstStyle/>
          <a:p>
            <a:pPr>
              <a:defRPr sz="1600" b="1">
                <a:solidFill>
                  <a:srgbClr val="F5F8FF"/>
                </a:solidFill>
                <a:latin typeface="Aptos"/>
              </a:defRPr>
            </a:pPr>
            <a:r>
              <a:t>PDF &amp; documents</a:t>
            </a:r>
          </a:p>
        </p:txBody>
      </p:sp>
      <p:sp>
        <p:nvSpPr>
          <p:cNvPr id="10" name="TextBox 9"/>
          <p:cNvSpPr txBox="1"/>
          <p:nvPr/>
        </p:nvSpPr>
        <p:spPr>
          <a:xfrm>
            <a:off x="841247" y="2304288"/>
            <a:ext cx="2221992" cy="905256"/>
          </a:xfrm>
          <a:prstGeom prst="rect">
            <a:avLst/>
          </a:prstGeom>
          <a:noFill/>
        </p:spPr>
        <p:txBody>
          <a:bodyPr wrap="square" lIns="45720" rIns="45720">
            <a:spAutoFit/>
          </a:bodyPr>
          <a:lstStyle/>
          <a:p>
            <a:pPr>
              <a:defRPr sz="1200" b="0">
                <a:solidFill>
                  <a:srgbClr val="B7C3DA"/>
                </a:solidFill>
                <a:latin typeface="Aptos"/>
              </a:defRPr>
            </a:pPr>
            <a:r>
              <a:t>Merge, split, compress or prepare documents.</a:t>
            </a:r>
          </a:p>
        </p:txBody>
      </p:sp>
      <p:sp>
        <p:nvSpPr>
          <p:cNvPr id="11" name="Rounded Rectangle 10"/>
          <p:cNvSpPr/>
          <p:nvPr/>
        </p:nvSpPr>
        <p:spPr>
          <a:xfrm>
            <a:off x="3520439" y="1645920"/>
            <a:ext cx="2606040" cy="16916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520439" y="1810512"/>
            <a:ext cx="64008" cy="136245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21607" y="1810512"/>
            <a:ext cx="2240280" cy="384048"/>
          </a:xfrm>
          <a:prstGeom prst="rect">
            <a:avLst/>
          </a:prstGeom>
          <a:noFill/>
        </p:spPr>
        <p:txBody>
          <a:bodyPr wrap="square" lIns="45720" rIns="45720">
            <a:spAutoFit/>
          </a:bodyPr>
          <a:lstStyle/>
          <a:p>
            <a:pPr>
              <a:defRPr sz="1600" b="1">
                <a:solidFill>
                  <a:srgbClr val="F5F8FF"/>
                </a:solidFill>
                <a:latin typeface="Aptos"/>
              </a:defRPr>
            </a:pPr>
            <a:r>
              <a:t>Images</a:t>
            </a:r>
          </a:p>
        </p:txBody>
      </p:sp>
      <p:sp>
        <p:nvSpPr>
          <p:cNvPr id="14" name="TextBox 13"/>
          <p:cNvSpPr txBox="1"/>
          <p:nvPr/>
        </p:nvSpPr>
        <p:spPr>
          <a:xfrm>
            <a:off x="3721607" y="2304288"/>
            <a:ext cx="2221992" cy="905256"/>
          </a:xfrm>
          <a:prstGeom prst="rect">
            <a:avLst/>
          </a:prstGeom>
          <a:noFill/>
        </p:spPr>
        <p:txBody>
          <a:bodyPr wrap="square" lIns="45720" rIns="45720">
            <a:spAutoFit/>
          </a:bodyPr>
          <a:lstStyle/>
          <a:p>
            <a:pPr>
              <a:defRPr sz="1200" b="0">
                <a:solidFill>
                  <a:srgbClr val="B7C3DA"/>
                </a:solidFill>
                <a:latin typeface="Aptos"/>
              </a:defRPr>
            </a:pPr>
            <a:r>
              <a:t>Resize, compress or convert image files.</a:t>
            </a:r>
          </a:p>
        </p:txBody>
      </p:sp>
      <p:sp>
        <p:nvSpPr>
          <p:cNvPr id="15" name="Rounded Rectangle 14"/>
          <p:cNvSpPr/>
          <p:nvPr/>
        </p:nvSpPr>
        <p:spPr>
          <a:xfrm>
            <a:off x="6400800" y="1645920"/>
            <a:ext cx="2606040" cy="16916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1810512"/>
            <a:ext cx="64008" cy="136245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01968" y="1810512"/>
            <a:ext cx="2240280" cy="384048"/>
          </a:xfrm>
          <a:prstGeom prst="rect">
            <a:avLst/>
          </a:prstGeom>
          <a:noFill/>
        </p:spPr>
        <p:txBody>
          <a:bodyPr wrap="square" lIns="45720" rIns="45720">
            <a:spAutoFit/>
          </a:bodyPr>
          <a:lstStyle/>
          <a:p>
            <a:pPr>
              <a:defRPr sz="1600" b="1">
                <a:solidFill>
                  <a:srgbClr val="F5F8FF"/>
                </a:solidFill>
                <a:latin typeface="Aptos"/>
              </a:defRPr>
            </a:pPr>
            <a:r>
              <a:t>Text utilities</a:t>
            </a:r>
          </a:p>
        </p:txBody>
      </p:sp>
      <p:sp>
        <p:nvSpPr>
          <p:cNvPr id="18" name="TextBox 17"/>
          <p:cNvSpPr txBox="1"/>
          <p:nvPr/>
        </p:nvSpPr>
        <p:spPr>
          <a:xfrm>
            <a:off x="6601968" y="2304288"/>
            <a:ext cx="2221992" cy="905256"/>
          </a:xfrm>
          <a:prstGeom prst="rect">
            <a:avLst/>
          </a:prstGeom>
          <a:noFill/>
        </p:spPr>
        <p:txBody>
          <a:bodyPr wrap="square" lIns="45720" rIns="45720">
            <a:spAutoFit/>
          </a:bodyPr>
          <a:lstStyle/>
          <a:p>
            <a:pPr>
              <a:defRPr sz="1200" b="0">
                <a:solidFill>
                  <a:srgbClr val="B7C3DA"/>
                </a:solidFill>
                <a:latin typeface="Aptos"/>
              </a:defRPr>
            </a:pPr>
            <a:r>
              <a:t>Count words, change case or transform text.</a:t>
            </a:r>
          </a:p>
        </p:txBody>
      </p:sp>
      <p:sp>
        <p:nvSpPr>
          <p:cNvPr id="19" name="Rounded Rectangle 18"/>
          <p:cNvSpPr/>
          <p:nvPr/>
        </p:nvSpPr>
        <p:spPr>
          <a:xfrm>
            <a:off x="9281159" y="1645920"/>
            <a:ext cx="2606040" cy="16916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281159" y="1810512"/>
            <a:ext cx="64008" cy="1362456"/>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82328" y="1810512"/>
            <a:ext cx="2240280" cy="384048"/>
          </a:xfrm>
          <a:prstGeom prst="rect">
            <a:avLst/>
          </a:prstGeom>
          <a:noFill/>
        </p:spPr>
        <p:txBody>
          <a:bodyPr wrap="square" lIns="45720" rIns="45720">
            <a:spAutoFit/>
          </a:bodyPr>
          <a:lstStyle/>
          <a:p>
            <a:pPr>
              <a:defRPr sz="1600" b="1">
                <a:solidFill>
                  <a:srgbClr val="F5F8FF"/>
                </a:solidFill>
                <a:latin typeface="Aptos"/>
              </a:defRPr>
            </a:pPr>
            <a:r>
              <a:t>Calculators</a:t>
            </a:r>
          </a:p>
        </p:txBody>
      </p:sp>
      <p:sp>
        <p:nvSpPr>
          <p:cNvPr id="22" name="TextBox 21"/>
          <p:cNvSpPr txBox="1"/>
          <p:nvPr/>
        </p:nvSpPr>
        <p:spPr>
          <a:xfrm>
            <a:off x="9482328" y="2304288"/>
            <a:ext cx="2221992" cy="905256"/>
          </a:xfrm>
          <a:prstGeom prst="rect">
            <a:avLst/>
          </a:prstGeom>
          <a:noFill/>
        </p:spPr>
        <p:txBody>
          <a:bodyPr wrap="square" lIns="45720" rIns="45720">
            <a:spAutoFit/>
          </a:bodyPr>
          <a:lstStyle/>
          <a:p>
            <a:pPr>
              <a:defRPr sz="1200" b="0">
                <a:solidFill>
                  <a:srgbClr val="B7C3DA"/>
                </a:solidFill>
                <a:latin typeface="Aptos"/>
              </a:defRPr>
            </a:pPr>
            <a:r>
              <a:t>Solve math, unit and everyday calculation tasks.</a:t>
            </a:r>
          </a:p>
        </p:txBody>
      </p:sp>
      <p:sp>
        <p:nvSpPr>
          <p:cNvPr id="23" name="Rounded Rectangle 22"/>
          <p:cNvSpPr/>
          <p:nvPr/>
        </p:nvSpPr>
        <p:spPr>
          <a:xfrm>
            <a:off x="640080" y="3703320"/>
            <a:ext cx="2606040" cy="16916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3867911"/>
            <a:ext cx="64008" cy="136245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7" y="3867911"/>
            <a:ext cx="2240280" cy="384048"/>
          </a:xfrm>
          <a:prstGeom prst="rect">
            <a:avLst/>
          </a:prstGeom>
          <a:noFill/>
        </p:spPr>
        <p:txBody>
          <a:bodyPr wrap="square" lIns="45720" rIns="45720">
            <a:spAutoFit/>
          </a:bodyPr>
          <a:lstStyle/>
          <a:p>
            <a:pPr>
              <a:defRPr sz="1600" b="1">
                <a:solidFill>
                  <a:srgbClr val="F5F8FF"/>
                </a:solidFill>
                <a:latin typeface="Aptos"/>
              </a:defRPr>
            </a:pPr>
            <a:r>
              <a:t>QR &amp; barcode</a:t>
            </a:r>
          </a:p>
        </p:txBody>
      </p:sp>
      <p:sp>
        <p:nvSpPr>
          <p:cNvPr id="26" name="TextBox 25"/>
          <p:cNvSpPr txBox="1"/>
          <p:nvPr/>
        </p:nvSpPr>
        <p:spPr>
          <a:xfrm>
            <a:off x="841247" y="4361688"/>
            <a:ext cx="2221992" cy="905256"/>
          </a:xfrm>
          <a:prstGeom prst="rect">
            <a:avLst/>
          </a:prstGeom>
          <a:noFill/>
        </p:spPr>
        <p:txBody>
          <a:bodyPr wrap="square" lIns="45720" rIns="45720">
            <a:spAutoFit/>
          </a:bodyPr>
          <a:lstStyle/>
          <a:p>
            <a:pPr>
              <a:defRPr sz="1200" b="0">
                <a:solidFill>
                  <a:srgbClr val="B7C3DA"/>
                </a:solidFill>
                <a:latin typeface="Aptos"/>
              </a:defRPr>
            </a:pPr>
            <a:r>
              <a:t>Create scannable codes for links or contact details.</a:t>
            </a:r>
          </a:p>
        </p:txBody>
      </p:sp>
      <p:sp>
        <p:nvSpPr>
          <p:cNvPr id="27" name="Rounded Rectangle 26"/>
          <p:cNvSpPr/>
          <p:nvPr/>
        </p:nvSpPr>
        <p:spPr>
          <a:xfrm>
            <a:off x="3520439" y="3703320"/>
            <a:ext cx="2606040" cy="16916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520439" y="3867911"/>
            <a:ext cx="64008" cy="136245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721607" y="3867911"/>
            <a:ext cx="2240280" cy="384048"/>
          </a:xfrm>
          <a:prstGeom prst="rect">
            <a:avLst/>
          </a:prstGeom>
          <a:noFill/>
        </p:spPr>
        <p:txBody>
          <a:bodyPr wrap="square" lIns="45720" rIns="45720">
            <a:spAutoFit/>
          </a:bodyPr>
          <a:lstStyle/>
          <a:p>
            <a:pPr>
              <a:defRPr sz="1600" b="1">
                <a:solidFill>
                  <a:srgbClr val="F5F8FF"/>
                </a:solidFill>
                <a:latin typeface="Aptos"/>
              </a:defRPr>
            </a:pPr>
            <a:r>
              <a:t>Developer utilities</a:t>
            </a:r>
          </a:p>
        </p:txBody>
      </p:sp>
      <p:sp>
        <p:nvSpPr>
          <p:cNvPr id="30" name="TextBox 29"/>
          <p:cNvSpPr txBox="1"/>
          <p:nvPr/>
        </p:nvSpPr>
        <p:spPr>
          <a:xfrm>
            <a:off x="3721607" y="4361688"/>
            <a:ext cx="2221992" cy="905256"/>
          </a:xfrm>
          <a:prstGeom prst="rect">
            <a:avLst/>
          </a:prstGeom>
          <a:noFill/>
        </p:spPr>
        <p:txBody>
          <a:bodyPr wrap="square" lIns="45720" rIns="45720">
            <a:spAutoFit/>
          </a:bodyPr>
          <a:lstStyle/>
          <a:p>
            <a:pPr>
              <a:defRPr sz="1200" b="0">
                <a:solidFill>
                  <a:srgbClr val="B7C3DA"/>
                </a:solidFill>
                <a:latin typeface="Aptos"/>
              </a:defRPr>
            </a:pPr>
            <a:r>
              <a:t>Format JSON/code, encode text or test patterns.</a:t>
            </a:r>
          </a:p>
        </p:txBody>
      </p:sp>
      <p:sp>
        <p:nvSpPr>
          <p:cNvPr id="31" name="Rounded Rectangle 30"/>
          <p:cNvSpPr/>
          <p:nvPr/>
        </p:nvSpPr>
        <p:spPr>
          <a:xfrm>
            <a:off x="6400800" y="3703320"/>
            <a:ext cx="2606040" cy="16916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0" y="3867911"/>
            <a:ext cx="64008" cy="136245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01968" y="3867911"/>
            <a:ext cx="2240280" cy="384048"/>
          </a:xfrm>
          <a:prstGeom prst="rect">
            <a:avLst/>
          </a:prstGeom>
          <a:noFill/>
        </p:spPr>
        <p:txBody>
          <a:bodyPr wrap="square" lIns="45720" rIns="45720">
            <a:spAutoFit/>
          </a:bodyPr>
          <a:lstStyle/>
          <a:p>
            <a:pPr>
              <a:defRPr sz="1600" b="1">
                <a:solidFill>
                  <a:srgbClr val="F5F8FF"/>
                </a:solidFill>
                <a:latin typeface="Aptos"/>
              </a:defRPr>
            </a:pPr>
            <a:r>
              <a:t>Network checks</a:t>
            </a:r>
          </a:p>
        </p:txBody>
      </p:sp>
      <p:sp>
        <p:nvSpPr>
          <p:cNvPr id="34" name="TextBox 33"/>
          <p:cNvSpPr txBox="1"/>
          <p:nvPr/>
        </p:nvSpPr>
        <p:spPr>
          <a:xfrm>
            <a:off x="6601968" y="4361688"/>
            <a:ext cx="2221992" cy="905256"/>
          </a:xfrm>
          <a:prstGeom prst="rect">
            <a:avLst/>
          </a:prstGeom>
          <a:noFill/>
        </p:spPr>
        <p:txBody>
          <a:bodyPr wrap="square" lIns="45720" rIns="45720">
            <a:spAutoFit/>
          </a:bodyPr>
          <a:lstStyle/>
          <a:p>
            <a:pPr>
              <a:defRPr sz="1200" b="0">
                <a:solidFill>
                  <a:srgbClr val="B7C3DA"/>
                </a:solidFill>
                <a:latin typeface="Aptos"/>
              </a:defRPr>
            </a:pPr>
            <a:r>
              <a:t>Look up public domain, DNS or website-status information.</a:t>
            </a:r>
          </a:p>
        </p:txBody>
      </p:sp>
      <p:sp>
        <p:nvSpPr>
          <p:cNvPr id="35" name="Rounded Rectangle 34"/>
          <p:cNvSpPr/>
          <p:nvPr/>
        </p:nvSpPr>
        <p:spPr>
          <a:xfrm>
            <a:off x="9281159" y="3703320"/>
            <a:ext cx="2606040" cy="16916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281159" y="3867911"/>
            <a:ext cx="64008" cy="1362456"/>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482328" y="3867911"/>
            <a:ext cx="2240280" cy="384048"/>
          </a:xfrm>
          <a:prstGeom prst="rect">
            <a:avLst/>
          </a:prstGeom>
          <a:noFill/>
        </p:spPr>
        <p:txBody>
          <a:bodyPr wrap="square" lIns="45720" rIns="45720">
            <a:spAutoFit/>
          </a:bodyPr>
          <a:lstStyle/>
          <a:p>
            <a:pPr>
              <a:defRPr sz="1600" b="1">
                <a:solidFill>
                  <a:srgbClr val="F5F8FF"/>
                </a:solidFill>
                <a:latin typeface="Aptos"/>
              </a:defRPr>
            </a:pPr>
            <a:r>
              <a:t>Everyday helpers</a:t>
            </a:r>
          </a:p>
        </p:txBody>
      </p:sp>
      <p:sp>
        <p:nvSpPr>
          <p:cNvPr id="38" name="TextBox 37"/>
          <p:cNvSpPr txBox="1"/>
          <p:nvPr/>
        </p:nvSpPr>
        <p:spPr>
          <a:xfrm>
            <a:off x="9482328" y="4361688"/>
            <a:ext cx="2221992" cy="905256"/>
          </a:xfrm>
          <a:prstGeom prst="rect">
            <a:avLst/>
          </a:prstGeom>
          <a:noFill/>
        </p:spPr>
        <p:txBody>
          <a:bodyPr wrap="square" lIns="45720" rIns="45720">
            <a:spAutoFit/>
          </a:bodyPr>
          <a:lstStyle/>
          <a:p>
            <a:pPr>
              <a:defRPr sz="1200" b="0">
                <a:solidFill>
                  <a:srgbClr val="B7C3DA"/>
                </a:solidFill>
                <a:latin typeface="Aptos"/>
              </a:defRPr>
            </a:pPr>
            <a:r>
              <a:t>Small tools that save time on routine digital work.</a:t>
            </a:r>
          </a:p>
        </p:txBody>
      </p:sp>
      <p:sp>
        <p:nvSpPr>
          <p:cNvPr id="39" name="TextBox 38"/>
          <p:cNvSpPr txBox="1"/>
          <p:nvPr/>
        </p:nvSpPr>
        <p:spPr>
          <a:xfrm>
            <a:off x="731520" y="5806440"/>
            <a:ext cx="10789920" cy="320040"/>
          </a:xfrm>
          <a:prstGeom prst="rect">
            <a:avLst/>
          </a:prstGeom>
          <a:noFill/>
        </p:spPr>
        <p:txBody>
          <a:bodyPr wrap="square" lIns="45720" rIns="45720">
            <a:spAutoFit/>
          </a:bodyPr>
          <a:lstStyle/>
          <a:p>
            <a:pPr>
              <a:defRPr sz="1000" b="0">
                <a:solidFill>
                  <a:srgbClr val="FFC75F"/>
                </a:solidFill>
                <a:latin typeface="Aptos"/>
              </a:defRPr>
            </a:pPr>
            <a:r>
              <a:t>Note: match this category list to the exact tools present in your local HTML before presenting.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How a user can use a tool</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05</a:t>
            </a:r>
          </a:p>
        </p:txBody>
      </p:sp>
      <p:sp>
        <p:nvSpPr>
          <p:cNvPr id="7" name="Rounded Rectangle 6"/>
          <p:cNvSpPr/>
          <p:nvPr/>
        </p:nvSpPr>
        <p:spPr>
          <a:xfrm>
            <a:off x="685800" y="1965960"/>
            <a:ext cx="205740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2130552"/>
            <a:ext cx="64008" cy="181965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130552"/>
            <a:ext cx="1691640" cy="384048"/>
          </a:xfrm>
          <a:prstGeom prst="rect">
            <a:avLst/>
          </a:prstGeom>
          <a:noFill/>
        </p:spPr>
        <p:txBody>
          <a:bodyPr wrap="square" lIns="45720" rIns="45720">
            <a:spAutoFit/>
          </a:bodyPr>
          <a:lstStyle/>
          <a:p>
            <a:pPr>
              <a:defRPr sz="1600" b="1">
                <a:solidFill>
                  <a:srgbClr val="F5F8FF"/>
                </a:solidFill>
                <a:latin typeface="Aptos"/>
              </a:defRPr>
            </a:pPr>
            <a:r>
              <a:t>01  Open</a:t>
            </a:r>
          </a:p>
        </p:txBody>
      </p:sp>
      <p:sp>
        <p:nvSpPr>
          <p:cNvPr id="10" name="TextBox 9"/>
          <p:cNvSpPr txBox="1"/>
          <p:nvPr/>
        </p:nvSpPr>
        <p:spPr>
          <a:xfrm>
            <a:off x="886968" y="2624328"/>
            <a:ext cx="1673352" cy="1362456"/>
          </a:xfrm>
          <a:prstGeom prst="rect">
            <a:avLst/>
          </a:prstGeom>
          <a:noFill/>
        </p:spPr>
        <p:txBody>
          <a:bodyPr wrap="square" lIns="45720" rIns="45720">
            <a:spAutoFit/>
          </a:bodyPr>
          <a:lstStyle/>
          <a:p>
            <a:pPr>
              <a:defRPr sz="1300" b="0">
                <a:solidFill>
                  <a:srgbClr val="B7C3DA"/>
                </a:solidFill>
                <a:latin typeface="Aptos"/>
              </a:defRPr>
            </a:pPr>
            <a:r>
              <a:t>Open the website in a browser on a laptop or phone.</a:t>
            </a:r>
          </a:p>
        </p:txBody>
      </p:sp>
      <p:sp>
        <p:nvSpPr>
          <p:cNvPr id="11" name="Rounded Rectangle 10"/>
          <p:cNvSpPr/>
          <p:nvPr/>
        </p:nvSpPr>
        <p:spPr>
          <a:xfrm>
            <a:off x="2990088" y="1965960"/>
            <a:ext cx="205740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90088" y="2130552"/>
            <a:ext cx="64008" cy="181965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91256" y="2130552"/>
            <a:ext cx="1691640" cy="384048"/>
          </a:xfrm>
          <a:prstGeom prst="rect">
            <a:avLst/>
          </a:prstGeom>
          <a:noFill/>
        </p:spPr>
        <p:txBody>
          <a:bodyPr wrap="square" lIns="45720" rIns="45720">
            <a:spAutoFit/>
          </a:bodyPr>
          <a:lstStyle/>
          <a:p>
            <a:pPr>
              <a:defRPr sz="1600" b="1">
                <a:solidFill>
                  <a:srgbClr val="F5F8FF"/>
                </a:solidFill>
                <a:latin typeface="Aptos"/>
              </a:defRPr>
            </a:pPr>
            <a:r>
              <a:t>02  Choose</a:t>
            </a:r>
          </a:p>
        </p:txBody>
      </p:sp>
      <p:sp>
        <p:nvSpPr>
          <p:cNvPr id="14" name="TextBox 13"/>
          <p:cNvSpPr txBox="1"/>
          <p:nvPr/>
        </p:nvSpPr>
        <p:spPr>
          <a:xfrm>
            <a:off x="3191256" y="2624328"/>
            <a:ext cx="1673352" cy="1362456"/>
          </a:xfrm>
          <a:prstGeom prst="rect">
            <a:avLst/>
          </a:prstGeom>
          <a:noFill/>
        </p:spPr>
        <p:txBody>
          <a:bodyPr wrap="square" lIns="45720" rIns="45720">
            <a:spAutoFit/>
          </a:bodyPr>
          <a:lstStyle/>
          <a:p>
            <a:pPr>
              <a:defRPr sz="1300" b="0">
                <a:solidFill>
                  <a:srgbClr val="B7C3DA"/>
                </a:solidFill>
                <a:latin typeface="Aptos"/>
              </a:defRPr>
            </a:pPr>
            <a:r>
              <a:t>Find the required tool from its category or search.</a:t>
            </a:r>
          </a:p>
        </p:txBody>
      </p:sp>
      <p:sp>
        <p:nvSpPr>
          <p:cNvPr id="15" name="Rounded Rectangle 14"/>
          <p:cNvSpPr/>
          <p:nvPr/>
        </p:nvSpPr>
        <p:spPr>
          <a:xfrm>
            <a:off x="5294376" y="1965960"/>
            <a:ext cx="205740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94376" y="2130552"/>
            <a:ext cx="64008" cy="181965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95544" y="2130552"/>
            <a:ext cx="1691640" cy="384048"/>
          </a:xfrm>
          <a:prstGeom prst="rect">
            <a:avLst/>
          </a:prstGeom>
          <a:noFill/>
        </p:spPr>
        <p:txBody>
          <a:bodyPr wrap="square" lIns="45720" rIns="45720">
            <a:spAutoFit/>
          </a:bodyPr>
          <a:lstStyle/>
          <a:p>
            <a:pPr>
              <a:defRPr sz="1600" b="1">
                <a:solidFill>
                  <a:srgbClr val="F5F8FF"/>
                </a:solidFill>
                <a:latin typeface="Aptos"/>
              </a:defRPr>
            </a:pPr>
            <a:r>
              <a:t>03  Enter</a:t>
            </a:r>
          </a:p>
        </p:txBody>
      </p:sp>
      <p:sp>
        <p:nvSpPr>
          <p:cNvPr id="18" name="TextBox 17"/>
          <p:cNvSpPr txBox="1"/>
          <p:nvPr/>
        </p:nvSpPr>
        <p:spPr>
          <a:xfrm>
            <a:off x="5495544" y="2624328"/>
            <a:ext cx="1673352" cy="1362456"/>
          </a:xfrm>
          <a:prstGeom prst="rect">
            <a:avLst/>
          </a:prstGeom>
          <a:noFill/>
        </p:spPr>
        <p:txBody>
          <a:bodyPr wrap="square" lIns="45720" rIns="45720">
            <a:spAutoFit/>
          </a:bodyPr>
          <a:lstStyle/>
          <a:p>
            <a:pPr>
              <a:defRPr sz="1300" b="0">
                <a:solidFill>
                  <a:srgbClr val="B7C3DA"/>
                </a:solidFill>
                <a:latin typeface="Aptos"/>
              </a:defRPr>
            </a:pPr>
            <a:r>
              <a:t>Upload a file or enter text/value, depending on the tool.</a:t>
            </a:r>
          </a:p>
        </p:txBody>
      </p:sp>
      <p:sp>
        <p:nvSpPr>
          <p:cNvPr id="19" name="Rounded Rectangle 18"/>
          <p:cNvSpPr/>
          <p:nvPr/>
        </p:nvSpPr>
        <p:spPr>
          <a:xfrm>
            <a:off x="7598664" y="1965960"/>
            <a:ext cx="205740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598664" y="2130552"/>
            <a:ext cx="64008" cy="1819656"/>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99832" y="2130552"/>
            <a:ext cx="1691640" cy="384048"/>
          </a:xfrm>
          <a:prstGeom prst="rect">
            <a:avLst/>
          </a:prstGeom>
          <a:noFill/>
        </p:spPr>
        <p:txBody>
          <a:bodyPr wrap="square" lIns="45720" rIns="45720">
            <a:spAutoFit/>
          </a:bodyPr>
          <a:lstStyle/>
          <a:p>
            <a:pPr>
              <a:defRPr sz="1600" b="1">
                <a:solidFill>
                  <a:srgbClr val="F5F8FF"/>
                </a:solidFill>
                <a:latin typeface="Aptos"/>
              </a:defRPr>
            </a:pPr>
            <a:r>
              <a:t>04  Process</a:t>
            </a:r>
          </a:p>
        </p:txBody>
      </p:sp>
      <p:sp>
        <p:nvSpPr>
          <p:cNvPr id="22" name="TextBox 21"/>
          <p:cNvSpPr txBox="1"/>
          <p:nvPr/>
        </p:nvSpPr>
        <p:spPr>
          <a:xfrm>
            <a:off x="7799832" y="2624328"/>
            <a:ext cx="1673352" cy="1362456"/>
          </a:xfrm>
          <a:prstGeom prst="rect">
            <a:avLst/>
          </a:prstGeom>
          <a:noFill/>
        </p:spPr>
        <p:txBody>
          <a:bodyPr wrap="square" lIns="45720" rIns="45720">
            <a:spAutoFit/>
          </a:bodyPr>
          <a:lstStyle/>
          <a:p>
            <a:pPr>
              <a:defRPr sz="1300" b="0">
                <a:solidFill>
                  <a:srgbClr val="B7C3DA"/>
                </a:solidFill>
                <a:latin typeface="Aptos"/>
              </a:defRPr>
            </a:pPr>
            <a:r>
              <a:t>Select the relevant action and review the result.</a:t>
            </a:r>
          </a:p>
        </p:txBody>
      </p:sp>
      <p:sp>
        <p:nvSpPr>
          <p:cNvPr id="23" name="Rounded Rectangle 22"/>
          <p:cNvSpPr/>
          <p:nvPr/>
        </p:nvSpPr>
        <p:spPr>
          <a:xfrm>
            <a:off x="9902952" y="1965960"/>
            <a:ext cx="205740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902952" y="2130552"/>
            <a:ext cx="64008" cy="181965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04120" y="2130552"/>
            <a:ext cx="1691640" cy="384048"/>
          </a:xfrm>
          <a:prstGeom prst="rect">
            <a:avLst/>
          </a:prstGeom>
          <a:noFill/>
        </p:spPr>
        <p:txBody>
          <a:bodyPr wrap="square" lIns="45720" rIns="45720">
            <a:spAutoFit/>
          </a:bodyPr>
          <a:lstStyle/>
          <a:p>
            <a:pPr>
              <a:defRPr sz="1600" b="1">
                <a:solidFill>
                  <a:srgbClr val="F5F8FF"/>
                </a:solidFill>
                <a:latin typeface="Aptos"/>
              </a:defRPr>
            </a:pPr>
            <a:r>
              <a:t>05  Save</a:t>
            </a:r>
          </a:p>
        </p:txBody>
      </p:sp>
      <p:sp>
        <p:nvSpPr>
          <p:cNvPr id="26" name="TextBox 25"/>
          <p:cNvSpPr txBox="1"/>
          <p:nvPr/>
        </p:nvSpPr>
        <p:spPr>
          <a:xfrm>
            <a:off x="10104120" y="2624328"/>
            <a:ext cx="1673352" cy="1362456"/>
          </a:xfrm>
          <a:prstGeom prst="rect">
            <a:avLst/>
          </a:prstGeom>
          <a:noFill/>
        </p:spPr>
        <p:txBody>
          <a:bodyPr wrap="square" lIns="45720" rIns="45720">
            <a:spAutoFit/>
          </a:bodyPr>
          <a:lstStyle/>
          <a:p>
            <a:pPr>
              <a:defRPr sz="1300" b="0">
                <a:solidFill>
                  <a:srgbClr val="B7C3DA"/>
                </a:solidFill>
                <a:latin typeface="Aptos"/>
              </a:defRPr>
            </a:pPr>
            <a:r>
              <a:t>Download, copy or use the result if that option is available.</a:t>
            </a:r>
          </a:p>
        </p:txBody>
      </p:sp>
      <p:sp>
        <p:nvSpPr>
          <p:cNvPr id="27" name="TextBox 26"/>
          <p:cNvSpPr txBox="1"/>
          <p:nvPr/>
        </p:nvSpPr>
        <p:spPr>
          <a:xfrm>
            <a:off x="822960" y="4800600"/>
            <a:ext cx="10607040" cy="777240"/>
          </a:xfrm>
          <a:prstGeom prst="rect">
            <a:avLst/>
          </a:prstGeom>
          <a:noFill/>
        </p:spPr>
        <p:txBody>
          <a:bodyPr wrap="square" lIns="45720" rIns="45720">
            <a:spAutoFit/>
          </a:bodyPr>
          <a:lstStyle/>
          <a:p>
            <a:pPr>
              <a:defRPr sz="1700" b="0">
                <a:solidFill>
                  <a:srgbClr val="B7C3DA"/>
                </a:solidFill>
                <a:latin typeface="Aptos"/>
              </a:defRPr>
            </a:pPr>
            <a:r>
              <a:t>Good practice: check the output before submitting or sharing it, especially for academic or work documents.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College use case: students</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06</a:t>
            </a:r>
          </a:p>
        </p:txBody>
      </p:sp>
      <p:sp>
        <p:nvSpPr>
          <p:cNvPr id="7" name="Rounded Rectangle 6"/>
          <p:cNvSpPr/>
          <p:nvPr/>
        </p:nvSpPr>
        <p:spPr>
          <a:xfrm>
            <a:off x="685800" y="1645920"/>
            <a:ext cx="3474720" cy="210312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810512"/>
            <a:ext cx="64008" cy="177393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810512"/>
            <a:ext cx="3108960" cy="384048"/>
          </a:xfrm>
          <a:prstGeom prst="rect">
            <a:avLst/>
          </a:prstGeom>
          <a:noFill/>
        </p:spPr>
        <p:txBody>
          <a:bodyPr wrap="square" lIns="45720" rIns="45720">
            <a:spAutoFit/>
          </a:bodyPr>
          <a:lstStyle/>
          <a:p>
            <a:pPr>
              <a:defRPr sz="1900" b="1">
                <a:solidFill>
                  <a:srgbClr val="F5F8FF"/>
                </a:solidFill>
                <a:latin typeface="Aptos"/>
              </a:defRPr>
            </a:pPr>
            <a:r>
              <a:t>Assignment submission</a:t>
            </a:r>
          </a:p>
        </p:txBody>
      </p:sp>
      <p:sp>
        <p:nvSpPr>
          <p:cNvPr id="10" name="TextBox 9"/>
          <p:cNvSpPr txBox="1"/>
          <p:nvPr/>
        </p:nvSpPr>
        <p:spPr>
          <a:xfrm>
            <a:off x="886968" y="2304288"/>
            <a:ext cx="3090672" cy="1316736"/>
          </a:xfrm>
          <a:prstGeom prst="rect">
            <a:avLst/>
          </a:prstGeom>
          <a:noFill/>
        </p:spPr>
        <p:txBody>
          <a:bodyPr wrap="square" lIns="45720" rIns="45720">
            <a:spAutoFit/>
          </a:bodyPr>
          <a:lstStyle/>
          <a:p>
            <a:pPr>
              <a:defRPr sz="1400" b="0">
                <a:solidFill>
                  <a:srgbClr val="B7C3DA"/>
                </a:solidFill>
                <a:latin typeface="Aptos"/>
              </a:defRPr>
            </a:pPr>
            <a:r>
              <a:t>Compress a large PDF if the college portal has a file-size limit; combine pages if the tool supports it.</a:t>
            </a:r>
          </a:p>
        </p:txBody>
      </p:sp>
      <p:sp>
        <p:nvSpPr>
          <p:cNvPr id="11" name="Rounded Rectangle 10"/>
          <p:cNvSpPr/>
          <p:nvPr/>
        </p:nvSpPr>
        <p:spPr>
          <a:xfrm>
            <a:off x="4370832" y="1645920"/>
            <a:ext cx="3474720" cy="210312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0832" y="1810512"/>
            <a:ext cx="64008" cy="177393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10512"/>
            <a:ext cx="3108960" cy="384048"/>
          </a:xfrm>
          <a:prstGeom prst="rect">
            <a:avLst/>
          </a:prstGeom>
          <a:noFill/>
        </p:spPr>
        <p:txBody>
          <a:bodyPr wrap="square" lIns="45720" rIns="45720">
            <a:spAutoFit/>
          </a:bodyPr>
          <a:lstStyle/>
          <a:p>
            <a:pPr>
              <a:defRPr sz="1900" b="1">
                <a:solidFill>
                  <a:srgbClr val="F5F8FF"/>
                </a:solidFill>
                <a:latin typeface="Aptos"/>
              </a:defRPr>
            </a:pPr>
            <a:r>
              <a:t>Project presentation</a:t>
            </a:r>
          </a:p>
        </p:txBody>
      </p:sp>
      <p:sp>
        <p:nvSpPr>
          <p:cNvPr id="14" name="TextBox 13"/>
          <p:cNvSpPr txBox="1"/>
          <p:nvPr/>
        </p:nvSpPr>
        <p:spPr>
          <a:xfrm>
            <a:off x="4572000" y="2304288"/>
            <a:ext cx="3090672" cy="1316736"/>
          </a:xfrm>
          <a:prstGeom prst="rect">
            <a:avLst/>
          </a:prstGeom>
          <a:noFill/>
        </p:spPr>
        <p:txBody>
          <a:bodyPr wrap="square" lIns="45720" rIns="45720">
            <a:spAutoFit/>
          </a:bodyPr>
          <a:lstStyle/>
          <a:p>
            <a:pPr>
              <a:defRPr sz="1400" b="0">
                <a:solidFill>
                  <a:srgbClr val="B7C3DA"/>
                </a:solidFill>
                <a:latin typeface="Aptos"/>
              </a:defRPr>
            </a:pPr>
            <a:r>
              <a:t>Resize images and create a QR code that links to a project demo or portfolio.</a:t>
            </a:r>
          </a:p>
        </p:txBody>
      </p:sp>
      <p:sp>
        <p:nvSpPr>
          <p:cNvPr id="15" name="Rounded Rectangle 14"/>
          <p:cNvSpPr/>
          <p:nvPr/>
        </p:nvSpPr>
        <p:spPr>
          <a:xfrm>
            <a:off x="8046720" y="1645920"/>
            <a:ext cx="3474720" cy="210312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10512"/>
            <a:ext cx="64008" cy="177393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810512"/>
            <a:ext cx="3108960" cy="384048"/>
          </a:xfrm>
          <a:prstGeom prst="rect">
            <a:avLst/>
          </a:prstGeom>
          <a:noFill/>
        </p:spPr>
        <p:txBody>
          <a:bodyPr wrap="square" lIns="45720" rIns="45720">
            <a:spAutoFit/>
          </a:bodyPr>
          <a:lstStyle/>
          <a:p>
            <a:pPr>
              <a:defRPr sz="1900" b="1">
                <a:solidFill>
                  <a:srgbClr val="F5F8FF"/>
                </a:solidFill>
                <a:latin typeface="Aptos"/>
              </a:defRPr>
            </a:pPr>
            <a:r>
              <a:t>Study &amp; revision</a:t>
            </a:r>
          </a:p>
        </p:txBody>
      </p:sp>
      <p:sp>
        <p:nvSpPr>
          <p:cNvPr id="18" name="TextBox 17"/>
          <p:cNvSpPr txBox="1"/>
          <p:nvPr/>
        </p:nvSpPr>
        <p:spPr>
          <a:xfrm>
            <a:off x="8247888" y="2304288"/>
            <a:ext cx="3090672" cy="1316736"/>
          </a:xfrm>
          <a:prstGeom prst="rect">
            <a:avLst/>
          </a:prstGeom>
          <a:noFill/>
        </p:spPr>
        <p:txBody>
          <a:bodyPr wrap="square" lIns="45720" rIns="45720">
            <a:spAutoFit/>
          </a:bodyPr>
          <a:lstStyle/>
          <a:p>
            <a:pPr>
              <a:defRPr sz="1400" b="0">
                <a:solidFill>
                  <a:srgbClr val="B7C3DA"/>
                </a:solidFill>
                <a:latin typeface="Aptos"/>
              </a:defRPr>
            </a:pPr>
            <a:r>
              <a:t>Use text utilities for word counts and calculators for practice calculations.</a:t>
            </a:r>
          </a:p>
        </p:txBody>
      </p:sp>
      <p:sp>
        <p:nvSpPr>
          <p:cNvPr id="19" name="TextBox 18"/>
          <p:cNvSpPr txBox="1"/>
          <p:nvPr/>
        </p:nvSpPr>
        <p:spPr>
          <a:xfrm>
            <a:off x="822960" y="4343400"/>
            <a:ext cx="10607040" cy="914400"/>
          </a:xfrm>
          <a:prstGeom prst="rect">
            <a:avLst/>
          </a:prstGeom>
          <a:noFill/>
        </p:spPr>
        <p:txBody>
          <a:bodyPr wrap="square" lIns="45720" rIns="45720">
            <a:spAutoFit/>
          </a:bodyPr>
          <a:lstStyle/>
          <a:p>
            <a:pPr>
              <a:defRPr sz="1600" b="0">
                <a:solidFill>
                  <a:srgbClr val="F5F8FF"/>
                </a:solidFill>
                <a:latin typeface="Aptos"/>
              </a:defRPr>
            </a:pPr>
            <a:r>
              <a:t>Example: A student’s project report is 18 MB but the portal accepts 10 MB. The student opens a PDF compression tool, selects the report, compresses it and checks readability before uploading.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College use case: teachers &amp; administration</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07</a:t>
            </a:r>
          </a:p>
        </p:txBody>
      </p:sp>
      <p:sp>
        <p:nvSpPr>
          <p:cNvPr id="7" name="Rounded Rectangle 6"/>
          <p:cNvSpPr/>
          <p:nvPr/>
        </p:nvSpPr>
        <p:spPr>
          <a:xfrm>
            <a:off x="685800" y="1645920"/>
            <a:ext cx="347472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810512"/>
            <a:ext cx="64008" cy="181965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810512"/>
            <a:ext cx="3108960" cy="384048"/>
          </a:xfrm>
          <a:prstGeom prst="rect">
            <a:avLst/>
          </a:prstGeom>
          <a:noFill/>
        </p:spPr>
        <p:txBody>
          <a:bodyPr wrap="square" lIns="45720" rIns="45720">
            <a:spAutoFit/>
          </a:bodyPr>
          <a:lstStyle/>
          <a:p>
            <a:pPr>
              <a:defRPr sz="1900" b="1">
                <a:solidFill>
                  <a:srgbClr val="F5F8FF"/>
                </a:solidFill>
                <a:latin typeface="Aptos"/>
              </a:defRPr>
            </a:pPr>
            <a:r>
              <a:t>Teachers</a:t>
            </a:r>
          </a:p>
        </p:txBody>
      </p:sp>
      <p:sp>
        <p:nvSpPr>
          <p:cNvPr id="10" name="TextBox 9"/>
          <p:cNvSpPr txBox="1"/>
          <p:nvPr/>
        </p:nvSpPr>
        <p:spPr>
          <a:xfrm>
            <a:off x="886968" y="2304288"/>
            <a:ext cx="3090672" cy="1362456"/>
          </a:xfrm>
          <a:prstGeom prst="rect">
            <a:avLst/>
          </a:prstGeom>
          <a:noFill/>
        </p:spPr>
        <p:txBody>
          <a:bodyPr wrap="square" lIns="45720" rIns="45720">
            <a:spAutoFit/>
          </a:bodyPr>
          <a:lstStyle/>
          <a:p>
            <a:pPr>
              <a:defRPr sz="1400" b="0">
                <a:solidFill>
                  <a:srgbClr val="B7C3DA"/>
                </a:solidFill>
                <a:latin typeface="Aptos"/>
              </a:defRPr>
            </a:pPr>
            <a:r>
              <a:t>Prepare and organize learning resources; check document size and word counts.</a:t>
            </a:r>
          </a:p>
        </p:txBody>
      </p:sp>
      <p:sp>
        <p:nvSpPr>
          <p:cNvPr id="11" name="Rounded Rectangle 10"/>
          <p:cNvSpPr/>
          <p:nvPr/>
        </p:nvSpPr>
        <p:spPr>
          <a:xfrm>
            <a:off x="4370832" y="1645920"/>
            <a:ext cx="347472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0832" y="1810512"/>
            <a:ext cx="64008" cy="181965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10512"/>
            <a:ext cx="3108960" cy="384048"/>
          </a:xfrm>
          <a:prstGeom prst="rect">
            <a:avLst/>
          </a:prstGeom>
          <a:noFill/>
        </p:spPr>
        <p:txBody>
          <a:bodyPr wrap="square" lIns="45720" rIns="45720">
            <a:spAutoFit/>
          </a:bodyPr>
          <a:lstStyle/>
          <a:p>
            <a:pPr>
              <a:defRPr sz="1900" b="1">
                <a:solidFill>
                  <a:srgbClr val="F5F8FF"/>
                </a:solidFill>
                <a:latin typeface="Aptos"/>
              </a:defRPr>
            </a:pPr>
            <a:r>
              <a:t>Event coordinators</a:t>
            </a:r>
          </a:p>
        </p:txBody>
      </p:sp>
      <p:sp>
        <p:nvSpPr>
          <p:cNvPr id="14" name="TextBox 13"/>
          <p:cNvSpPr txBox="1"/>
          <p:nvPr/>
        </p:nvSpPr>
        <p:spPr>
          <a:xfrm>
            <a:off x="4572000" y="2304288"/>
            <a:ext cx="3090672" cy="1362456"/>
          </a:xfrm>
          <a:prstGeom prst="rect">
            <a:avLst/>
          </a:prstGeom>
          <a:noFill/>
        </p:spPr>
        <p:txBody>
          <a:bodyPr wrap="square" lIns="45720" rIns="45720">
            <a:spAutoFit/>
          </a:bodyPr>
          <a:lstStyle/>
          <a:p>
            <a:pPr>
              <a:defRPr sz="1400" b="0">
                <a:solidFill>
                  <a:srgbClr val="B7C3DA"/>
                </a:solidFill>
                <a:latin typeface="Aptos"/>
              </a:defRPr>
            </a:pPr>
            <a:r>
              <a:t>Generate QR codes for registration forms, event schedules or feedback links.</a:t>
            </a:r>
          </a:p>
        </p:txBody>
      </p:sp>
      <p:sp>
        <p:nvSpPr>
          <p:cNvPr id="15" name="Rounded Rectangle 14"/>
          <p:cNvSpPr/>
          <p:nvPr/>
        </p:nvSpPr>
        <p:spPr>
          <a:xfrm>
            <a:off x="8046720" y="1645920"/>
            <a:ext cx="347472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10512"/>
            <a:ext cx="64008" cy="181965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810512"/>
            <a:ext cx="3108960" cy="384048"/>
          </a:xfrm>
          <a:prstGeom prst="rect">
            <a:avLst/>
          </a:prstGeom>
          <a:noFill/>
        </p:spPr>
        <p:txBody>
          <a:bodyPr wrap="square" lIns="45720" rIns="45720">
            <a:spAutoFit/>
          </a:bodyPr>
          <a:lstStyle/>
          <a:p>
            <a:pPr>
              <a:defRPr sz="1900" b="1">
                <a:solidFill>
                  <a:srgbClr val="F5F8FF"/>
                </a:solidFill>
                <a:latin typeface="Aptos"/>
              </a:defRPr>
            </a:pPr>
            <a:r>
              <a:t>Office staff</a:t>
            </a:r>
          </a:p>
        </p:txBody>
      </p:sp>
      <p:sp>
        <p:nvSpPr>
          <p:cNvPr id="18" name="TextBox 17"/>
          <p:cNvSpPr txBox="1"/>
          <p:nvPr/>
        </p:nvSpPr>
        <p:spPr>
          <a:xfrm>
            <a:off x="8247888" y="2304288"/>
            <a:ext cx="3090672" cy="1362456"/>
          </a:xfrm>
          <a:prstGeom prst="rect">
            <a:avLst/>
          </a:prstGeom>
          <a:noFill/>
        </p:spPr>
        <p:txBody>
          <a:bodyPr wrap="square" lIns="45720" rIns="45720">
            <a:spAutoFit/>
          </a:bodyPr>
          <a:lstStyle/>
          <a:p>
            <a:pPr>
              <a:defRPr sz="1400" b="0">
                <a:solidFill>
                  <a:srgbClr val="B7C3DA"/>
                </a:solidFill>
                <a:latin typeface="Aptos"/>
              </a:defRPr>
            </a:pPr>
            <a:r>
              <a:t>Convert or prepare files and share clearer digital documents when supported.</a:t>
            </a:r>
          </a:p>
        </p:txBody>
      </p:sp>
      <p:sp>
        <p:nvSpPr>
          <p:cNvPr id="19" name="TextBox 18"/>
          <p:cNvSpPr txBox="1"/>
          <p:nvPr/>
        </p:nvSpPr>
        <p:spPr>
          <a:xfrm>
            <a:off x="822960" y="4389120"/>
            <a:ext cx="10607040" cy="731520"/>
          </a:xfrm>
          <a:prstGeom prst="rect">
            <a:avLst/>
          </a:prstGeom>
          <a:noFill/>
        </p:spPr>
        <p:txBody>
          <a:bodyPr wrap="square" lIns="45720" rIns="45720">
            <a:spAutoFit/>
          </a:bodyPr>
          <a:lstStyle/>
          <a:p>
            <a:pPr>
              <a:defRPr sz="1800" b="0">
                <a:solidFill>
                  <a:srgbClr val="FFC75F"/>
                </a:solidFill>
                <a:latin typeface="Aptos"/>
              </a:defRPr>
            </a:pPr>
            <a:r>
              <a:t>Benefit: fewer repetitive steps and a more organized workflow for routine college tasks.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Real-life use: beyond college</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08</a:t>
            </a:r>
          </a:p>
        </p:txBody>
      </p:sp>
      <p:sp>
        <p:nvSpPr>
          <p:cNvPr id="7" name="Rounded Rectangle 6"/>
          <p:cNvSpPr/>
          <p:nvPr/>
        </p:nvSpPr>
        <p:spPr>
          <a:xfrm>
            <a:off x="685800" y="1645920"/>
            <a:ext cx="347472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810512"/>
            <a:ext cx="64008" cy="181965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810512"/>
            <a:ext cx="3108960" cy="384048"/>
          </a:xfrm>
          <a:prstGeom prst="rect">
            <a:avLst/>
          </a:prstGeom>
          <a:noFill/>
        </p:spPr>
        <p:txBody>
          <a:bodyPr wrap="square" lIns="45720" rIns="45720">
            <a:spAutoFit/>
          </a:bodyPr>
          <a:lstStyle/>
          <a:p>
            <a:pPr>
              <a:defRPr sz="1900" b="1">
                <a:solidFill>
                  <a:srgbClr val="F5F8FF"/>
                </a:solidFill>
                <a:latin typeface="Aptos"/>
              </a:defRPr>
            </a:pPr>
            <a:r>
              <a:t>Job seeker</a:t>
            </a:r>
          </a:p>
        </p:txBody>
      </p:sp>
      <p:sp>
        <p:nvSpPr>
          <p:cNvPr id="10" name="TextBox 9"/>
          <p:cNvSpPr txBox="1"/>
          <p:nvPr/>
        </p:nvSpPr>
        <p:spPr>
          <a:xfrm>
            <a:off x="886968" y="2304288"/>
            <a:ext cx="3090672" cy="1362456"/>
          </a:xfrm>
          <a:prstGeom prst="rect">
            <a:avLst/>
          </a:prstGeom>
          <a:noFill/>
        </p:spPr>
        <p:txBody>
          <a:bodyPr wrap="square" lIns="45720" rIns="45720">
            <a:spAutoFit/>
          </a:bodyPr>
          <a:lstStyle/>
          <a:p>
            <a:pPr>
              <a:defRPr sz="1400" b="0">
                <a:solidFill>
                  <a:srgbClr val="B7C3DA"/>
                </a:solidFill>
                <a:latin typeface="Aptos"/>
              </a:defRPr>
            </a:pPr>
            <a:r>
              <a:t>Resize a profile photo, prepare documents and create a QR link to a portfolio.</a:t>
            </a:r>
          </a:p>
        </p:txBody>
      </p:sp>
      <p:sp>
        <p:nvSpPr>
          <p:cNvPr id="11" name="Rounded Rectangle 10"/>
          <p:cNvSpPr/>
          <p:nvPr/>
        </p:nvSpPr>
        <p:spPr>
          <a:xfrm>
            <a:off x="4370832" y="1645920"/>
            <a:ext cx="347472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0832" y="1810512"/>
            <a:ext cx="64008" cy="181965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10512"/>
            <a:ext cx="3108960" cy="384048"/>
          </a:xfrm>
          <a:prstGeom prst="rect">
            <a:avLst/>
          </a:prstGeom>
          <a:noFill/>
        </p:spPr>
        <p:txBody>
          <a:bodyPr wrap="square" lIns="45720" rIns="45720">
            <a:spAutoFit/>
          </a:bodyPr>
          <a:lstStyle/>
          <a:p>
            <a:pPr>
              <a:defRPr sz="1900" b="1">
                <a:solidFill>
                  <a:srgbClr val="F5F8FF"/>
                </a:solidFill>
                <a:latin typeface="Aptos"/>
              </a:defRPr>
            </a:pPr>
            <a:r>
              <a:t>Shopkeeper / small business</a:t>
            </a:r>
          </a:p>
        </p:txBody>
      </p:sp>
      <p:sp>
        <p:nvSpPr>
          <p:cNvPr id="14" name="TextBox 13"/>
          <p:cNvSpPr txBox="1"/>
          <p:nvPr/>
        </p:nvSpPr>
        <p:spPr>
          <a:xfrm>
            <a:off x="4572000" y="2304288"/>
            <a:ext cx="3090672" cy="1362456"/>
          </a:xfrm>
          <a:prstGeom prst="rect">
            <a:avLst/>
          </a:prstGeom>
          <a:noFill/>
        </p:spPr>
        <p:txBody>
          <a:bodyPr wrap="square" lIns="45720" rIns="45720">
            <a:spAutoFit/>
          </a:bodyPr>
          <a:lstStyle/>
          <a:p>
            <a:pPr>
              <a:defRPr sz="1400" b="0">
                <a:solidFill>
                  <a:srgbClr val="B7C3DA"/>
                </a:solidFill>
                <a:latin typeface="Aptos"/>
              </a:defRPr>
            </a:pPr>
            <a:r>
              <a:t>Create QR codes for a menu, product list or payment-related information where appropriate.</a:t>
            </a:r>
          </a:p>
        </p:txBody>
      </p:sp>
      <p:sp>
        <p:nvSpPr>
          <p:cNvPr id="15" name="Rounded Rectangle 14"/>
          <p:cNvSpPr/>
          <p:nvPr/>
        </p:nvSpPr>
        <p:spPr>
          <a:xfrm>
            <a:off x="8046720" y="1645920"/>
            <a:ext cx="3474720" cy="21488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10512"/>
            <a:ext cx="64008" cy="181965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810512"/>
            <a:ext cx="3108960" cy="384048"/>
          </a:xfrm>
          <a:prstGeom prst="rect">
            <a:avLst/>
          </a:prstGeom>
          <a:noFill/>
        </p:spPr>
        <p:txBody>
          <a:bodyPr wrap="square" lIns="45720" rIns="45720">
            <a:spAutoFit/>
          </a:bodyPr>
          <a:lstStyle/>
          <a:p>
            <a:pPr>
              <a:defRPr sz="1900" b="1">
                <a:solidFill>
                  <a:srgbClr val="F5F8FF"/>
                </a:solidFill>
                <a:latin typeface="Aptos"/>
              </a:defRPr>
            </a:pPr>
            <a:r>
              <a:t>Office professional</a:t>
            </a:r>
          </a:p>
        </p:txBody>
      </p:sp>
      <p:sp>
        <p:nvSpPr>
          <p:cNvPr id="18" name="TextBox 17"/>
          <p:cNvSpPr txBox="1"/>
          <p:nvPr/>
        </p:nvSpPr>
        <p:spPr>
          <a:xfrm>
            <a:off x="8247888" y="2304288"/>
            <a:ext cx="3090672" cy="1362456"/>
          </a:xfrm>
          <a:prstGeom prst="rect">
            <a:avLst/>
          </a:prstGeom>
          <a:noFill/>
        </p:spPr>
        <p:txBody>
          <a:bodyPr wrap="square" lIns="45720" rIns="45720">
            <a:spAutoFit/>
          </a:bodyPr>
          <a:lstStyle/>
          <a:p>
            <a:pPr>
              <a:defRPr sz="1400" b="0">
                <a:solidFill>
                  <a:srgbClr val="B7C3DA"/>
                </a:solidFill>
                <a:latin typeface="Aptos"/>
              </a:defRPr>
            </a:pPr>
            <a:r>
              <a:t>Format structured text, count words, compress files or run simple calculations.</a:t>
            </a:r>
          </a:p>
        </p:txBody>
      </p:sp>
      <p:sp>
        <p:nvSpPr>
          <p:cNvPr id="19" name="TextBox 18"/>
          <p:cNvSpPr txBox="1"/>
          <p:nvPr/>
        </p:nvSpPr>
        <p:spPr>
          <a:xfrm>
            <a:off x="822960" y="4389120"/>
            <a:ext cx="10607040" cy="777240"/>
          </a:xfrm>
          <a:prstGeom prst="rect">
            <a:avLst/>
          </a:prstGeom>
          <a:noFill/>
        </p:spPr>
        <p:txBody>
          <a:bodyPr wrap="square" lIns="45720" rIns="45720">
            <a:spAutoFit/>
          </a:bodyPr>
          <a:lstStyle/>
          <a:p>
            <a:pPr>
              <a:defRPr sz="1800" b="1">
                <a:solidFill>
                  <a:srgbClr val="F5F8FF"/>
                </a:solidFill>
                <a:latin typeface="Aptos"/>
              </a:defRPr>
            </a:pPr>
            <a:r>
              <a:t>A tool hub is useful whenever someone has a small digital task but does not want to install extra software.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Practical demo 1: PDF compression</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09</a:t>
            </a:r>
          </a:p>
        </p:txBody>
      </p:sp>
      <p:sp>
        <p:nvSpPr>
          <p:cNvPr id="7" name="TextBox 6"/>
          <p:cNvSpPr txBox="1"/>
          <p:nvPr/>
        </p:nvSpPr>
        <p:spPr>
          <a:xfrm>
            <a:off x="777240" y="1600200"/>
            <a:ext cx="5212080" cy="411480"/>
          </a:xfrm>
          <a:prstGeom prst="rect">
            <a:avLst/>
          </a:prstGeom>
          <a:noFill/>
        </p:spPr>
        <p:txBody>
          <a:bodyPr wrap="square" lIns="45720" rIns="45720">
            <a:spAutoFit/>
          </a:bodyPr>
          <a:lstStyle/>
          <a:p>
            <a:pPr>
              <a:defRPr sz="1200" b="1">
                <a:solidFill>
                  <a:srgbClr val="27D7BE"/>
                </a:solidFill>
                <a:latin typeface="Aptos"/>
              </a:defRPr>
            </a:pPr>
            <a:r>
              <a:t>SCENARIO</a:t>
            </a:r>
          </a:p>
        </p:txBody>
      </p:sp>
      <p:sp>
        <p:nvSpPr>
          <p:cNvPr id="8" name="TextBox 7"/>
          <p:cNvSpPr txBox="1"/>
          <p:nvPr/>
        </p:nvSpPr>
        <p:spPr>
          <a:xfrm>
            <a:off x="777240" y="1965960"/>
            <a:ext cx="5212080" cy="914400"/>
          </a:xfrm>
          <a:prstGeom prst="rect">
            <a:avLst/>
          </a:prstGeom>
          <a:noFill/>
        </p:spPr>
        <p:txBody>
          <a:bodyPr wrap="square" lIns="45720" rIns="45720">
            <a:spAutoFit/>
          </a:bodyPr>
          <a:lstStyle/>
          <a:p>
            <a:pPr>
              <a:defRPr sz="2300" b="1">
                <a:solidFill>
                  <a:srgbClr val="F5F8FF"/>
                </a:solidFill>
                <a:latin typeface="Aptos"/>
              </a:defRPr>
            </a:pPr>
            <a:r>
              <a:t>A student must upload a report, but the file is too large.</a:t>
            </a:r>
          </a:p>
        </p:txBody>
      </p:sp>
      <p:sp>
        <p:nvSpPr>
          <p:cNvPr id="9" name="TextBox 8"/>
          <p:cNvSpPr txBox="1"/>
          <p:nvPr/>
        </p:nvSpPr>
        <p:spPr>
          <a:xfrm>
            <a:off x="822960" y="3154680"/>
            <a:ext cx="5212080" cy="2194560"/>
          </a:xfrm>
          <a:prstGeom prst="rect">
            <a:avLst/>
          </a:prstGeom>
          <a:noFill/>
        </p:spPr>
        <p:txBody>
          <a:bodyPr wrap="square" lIns="36576" tIns="18288" rIns="36576" bIns="18288">
            <a:spAutoFit/>
          </a:bodyPr>
          <a:lstStyle/>
          <a:p>
            <a:pPr>
              <a:spcAft>
                <a:spcPts val="1000"/>
              </a:spcAft>
              <a:defRPr sz="1600">
                <a:solidFill>
                  <a:srgbClr val="F5F8FF"/>
                </a:solidFill>
                <a:latin typeface="Aptos"/>
              </a:defRPr>
            </a:pPr>
            <a:r>
              <a:t>•  Open the PDF tools section.</a:t>
            </a:r>
          </a:p>
          <a:p>
            <a:pPr>
              <a:spcAft>
                <a:spcPts val="1000"/>
              </a:spcAft>
              <a:defRPr sz="1600">
                <a:solidFill>
                  <a:srgbClr val="F5F8FF"/>
                </a:solidFill>
                <a:latin typeface="Aptos"/>
              </a:defRPr>
            </a:pPr>
            <a:r>
              <a:t>•  Choose the compression tool, if available.</a:t>
            </a:r>
          </a:p>
          <a:p>
            <a:pPr>
              <a:spcAft>
                <a:spcPts val="1000"/>
              </a:spcAft>
              <a:defRPr sz="1600">
                <a:solidFill>
                  <a:srgbClr val="F5F8FF"/>
                </a:solidFill>
                <a:latin typeface="Aptos"/>
              </a:defRPr>
            </a:pPr>
            <a:r>
              <a:t>•  Select the PDF and choose a suitable compression level.</a:t>
            </a:r>
          </a:p>
          <a:p>
            <a:pPr>
              <a:spcAft>
                <a:spcPts val="1000"/>
              </a:spcAft>
              <a:defRPr sz="1600">
                <a:solidFill>
                  <a:srgbClr val="F5F8FF"/>
                </a:solidFill>
                <a:latin typeface="Aptos"/>
              </a:defRPr>
            </a:pPr>
            <a:r>
              <a:t>•  Download the result and check that text/images remain readable.</a:t>
            </a:r>
          </a:p>
        </p:txBody>
      </p:sp>
      <p:sp>
        <p:nvSpPr>
          <p:cNvPr id="10" name="Rounded Rectangle 9"/>
          <p:cNvSpPr/>
          <p:nvPr/>
        </p:nvSpPr>
        <p:spPr>
          <a:xfrm>
            <a:off x="6492240" y="1828800"/>
            <a:ext cx="4572000" cy="246888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92240" y="1993392"/>
            <a:ext cx="64008" cy="213969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7" y="1993392"/>
            <a:ext cx="4206240" cy="384048"/>
          </a:xfrm>
          <a:prstGeom prst="rect">
            <a:avLst/>
          </a:prstGeom>
          <a:noFill/>
        </p:spPr>
        <p:txBody>
          <a:bodyPr wrap="square" lIns="45720" rIns="45720">
            <a:spAutoFit/>
          </a:bodyPr>
          <a:lstStyle/>
          <a:p>
            <a:pPr>
              <a:defRPr sz="2000" b="1">
                <a:solidFill>
                  <a:srgbClr val="F5F8FF"/>
                </a:solidFill>
                <a:latin typeface="Aptos"/>
              </a:defRPr>
            </a:pPr>
            <a:r>
              <a:t>Expected outcome</a:t>
            </a:r>
          </a:p>
        </p:txBody>
      </p:sp>
      <p:sp>
        <p:nvSpPr>
          <p:cNvPr id="13" name="TextBox 12"/>
          <p:cNvSpPr txBox="1"/>
          <p:nvPr/>
        </p:nvSpPr>
        <p:spPr>
          <a:xfrm>
            <a:off x="6693407" y="2487168"/>
            <a:ext cx="4187952" cy="1682496"/>
          </a:xfrm>
          <a:prstGeom prst="rect">
            <a:avLst/>
          </a:prstGeom>
          <a:noFill/>
        </p:spPr>
        <p:txBody>
          <a:bodyPr wrap="square" lIns="45720" rIns="45720">
            <a:spAutoFit/>
          </a:bodyPr>
          <a:lstStyle/>
          <a:p>
            <a:pPr>
              <a:defRPr sz="1600" b="0">
                <a:solidFill>
                  <a:srgbClr val="B7C3DA"/>
                </a:solidFill>
                <a:latin typeface="Aptos"/>
              </a:defRPr>
            </a:pPr>
            <a:r>
              <a:t>A smaller document that is easier to upload or share. The exact reduction depends on the file and the tool.</a:t>
            </a:r>
          </a:p>
        </p:txBody>
      </p:sp>
      <p:sp>
        <p:nvSpPr>
          <p:cNvPr id="14" name="TextBox 13"/>
          <p:cNvSpPr txBox="1"/>
          <p:nvPr/>
        </p:nvSpPr>
        <p:spPr>
          <a:xfrm>
            <a:off x="6537960" y="4617720"/>
            <a:ext cx="4480560" cy="594360"/>
          </a:xfrm>
          <a:prstGeom prst="rect">
            <a:avLst/>
          </a:prstGeom>
          <a:noFill/>
        </p:spPr>
        <p:txBody>
          <a:bodyPr wrap="square" lIns="45720" rIns="45720">
            <a:spAutoFit/>
          </a:bodyPr>
          <a:lstStyle/>
          <a:p>
            <a:pPr>
              <a:defRPr sz="1300" b="0">
                <a:solidFill>
                  <a:srgbClr val="FFC75F"/>
                </a:solidFill>
                <a:latin typeface="Aptos"/>
              </a:defRPr>
            </a:pPr>
            <a:r>
              <a:t>Always keep the original file until the result is checked.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Practical demo 2: QR code for a college project</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10</a:t>
            </a:r>
          </a:p>
        </p:txBody>
      </p:sp>
      <p:sp>
        <p:nvSpPr>
          <p:cNvPr id="7" name="Rounded Rectangle 6"/>
          <p:cNvSpPr/>
          <p:nvPr/>
        </p:nvSpPr>
        <p:spPr>
          <a:xfrm>
            <a:off x="731520" y="1737360"/>
            <a:ext cx="3337560" cy="219456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01952"/>
            <a:ext cx="64008" cy="1865376"/>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01952"/>
            <a:ext cx="2971800" cy="384048"/>
          </a:xfrm>
          <a:prstGeom prst="rect">
            <a:avLst/>
          </a:prstGeom>
          <a:noFill/>
        </p:spPr>
        <p:txBody>
          <a:bodyPr wrap="square" lIns="45720" rIns="45720">
            <a:spAutoFit/>
          </a:bodyPr>
          <a:lstStyle/>
          <a:p>
            <a:pPr>
              <a:defRPr sz="1900" b="1">
                <a:solidFill>
                  <a:srgbClr val="F5F8FF"/>
                </a:solidFill>
                <a:latin typeface="Aptos"/>
              </a:defRPr>
            </a:pPr>
            <a:r>
              <a:t>Problem</a:t>
            </a:r>
          </a:p>
        </p:txBody>
      </p:sp>
      <p:sp>
        <p:nvSpPr>
          <p:cNvPr id="10" name="TextBox 9"/>
          <p:cNvSpPr txBox="1"/>
          <p:nvPr/>
        </p:nvSpPr>
        <p:spPr>
          <a:xfrm>
            <a:off x="932688" y="2395728"/>
            <a:ext cx="2953512" cy="1408176"/>
          </a:xfrm>
          <a:prstGeom prst="rect">
            <a:avLst/>
          </a:prstGeom>
          <a:noFill/>
        </p:spPr>
        <p:txBody>
          <a:bodyPr wrap="square" lIns="45720" rIns="45720">
            <a:spAutoFit/>
          </a:bodyPr>
          <a:lstStyle/>
          <a:p>
            <a:pPr>
              <a:defRPr sz="1400" b="0">
                <a:solidFill>
                  <a:srgbClr val="B7C3DA"/>
                </a:solidFill>
                <a:latin typeface="Aptos"/>
              </a:defRPr>
            </a:pPr>
            <a:r>
              <a:t>People need a quick way to open the project demo or feedback form.</a:t>
            </a:r>
          </a:p>
        </p:txBody>
      </p:sp>
      <p:sp>
        <p:nvSpPr>
          <p:cNvPr id="11" name="Rounded Rectangle 10"/>
          <p:cNvSpPr/>
          <p:nvPr/>
        </p:nvSpPr>
        <p:spPr>
          <a:xfrm>
            <a:off x="4434840" y="1737360"/>
            <a:ext cx="3337560" cy="219456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901952"/>
            <a:ext cx="64008" cy="186537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1901952"/>
            <a:ext cx="2971800" cy="384048"/>
          </a:xfrm>
          <a:prstGeom prst="rect">
            <a:avLst/>
          </a:prstGeom>
          <a:noFill/>
        </p:spPr>
        <p:txBody>
          <a:bodyPr wrap="square" lIns="45720" rIns="45720">
            <a:spAutoFit/>
          </a:bodyPr>
          <a:lstStyle/>
          <a:p>
            <a:pPr>
              <a:defRPr sz="1900" b="1">
                <a:solidFill>
                  <a:srgbClr val="F5F8FF"/>
                </a:solidFill>
                <a:latin typeface="Aptos"/>
              </a:defRPr>
            </a:pPr>
            <a:r>
              <a:t>Steps</a:t>
            </a:r>
          </a:p>
        </p:txBody>
      </p:sp>
      <p:sp>
        <p:nvSpPr>
          <p:cNvPr id="14" name="TextBox 13"/>
          <p:cNvSpPr txBox="1"/>
          <p:nvPr/>
        </p:nvSpPr>
        <p:spPr>
          <a:xfrm>
            <a:off x="4636007" y="2395728"/>
            <a:ext cx="2953512" cy="1408176"/>
          </a:xfrm>
          <a:prstGeom prst="rect">
            <a:avLst/>
          </a:prstGeom>
          <a:noFill/>
        </p:spPr>
        <p:txBody>
          <a:bodyPr wrap="square" lIns="45720" rIns="45720">
            <a:spAutoFit/>
          </a:bodyPr>
          <a:lstStyle/>
          <a:p>
            <a:pPr>
              <a:defRPr sz="1400" b="0">
                <a:solidFill>
                  <a:srgbClr val="B7C3DA"/>
                </a:solidFill>
                <a:latin typeface="Aptos"/>
              </a:defRPr>
            </a:pPr>
            <a:r>
              <a:t>Copy the correct URL, open the QR generator, enter the link and create the code.</a:t>
            </a:r>
          </a:p>
        </p:txBody>
      </p:sp>
      <p:sp>
        <p:nvSpPr>
          <p:cNvPr id="15" name="Rounded Rectangle 14"/>
          <p:cNvSpPr/>
          <p:nvPr/>
        </p:nvSpPr>
        <p:spPr>
          <a:xfrm>
            <a:off x="8138160" y="1737360"/>
            <a:ext cx="3337560" cy="219456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901952"/>
            <a:ext cx="64008" cy="186537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901952"/>
            <a:ext cx="2971800" cy="384048"/>
          </a:xfrm>
          <a:prstGeom prst="rect">
            <a:avLst/>
          </a:prstGeom>
          <a:noFill/>
        </p:spPr>
        <p:txBody>
          <a:bodyPr wrap="square" lIns="45720" rIns="45720">
            <a:spAutoFit/>
          </a:bodyPr>
          <a:lstStyle/>
          <a:p>
            <a:pPr>
              <a:defRPr sz="1900" b="1">
                <a:solidFill>
                  <a:srgbClr val="F5F8FF"/>
                </a:solidFill>
                <a:latin typeface="Aptos"/>
              </a:defRPr>
            </a:pPr>
            <a:r>
              <a:t>Use it</a:t>
            </a:r>
          </a:p>
        </p:txBody>
      </p:sp>
      <p:sp>
        <p:nvSpPr>
          <p:cNvPr id="18" name="TextBox 17"/>
          <p:cNvSpPr txBox="1"/>
          <p:nvPr/>
        </p:nvSpPr>
        <p:spPr>
          <a:xfrm>
            <a:off x="8339328" y="2395728"/>
            <a:ext cx="2953512" cy="1408176"/>
          </a:xfrm>
          <a:prstGeom prst="rect">
            <a:avLst/>
          </a:prstGeom>
          <a:noFill/>
        </p:spPr>
        <p:txBody>
          <a:bodyPr wrap="square" lIns="45720" rIns="45720">
            <a:spAutoFit/>
          </a:bodyPr>
          <a:lstStyle/>
          <a:p>
            <a:pPr>
              <a:defRPr sz="1400" b="0">
                <a:solidFill>
                  <a:srgbClr val="B7C3DA"/>
                </a:solidFill>
                <a:latin typeface="Aptos"/>
              </a:defRPr>
            </a:pPr>
            <a:r>
              <a:t>Place the QR on a poster or final slide, then test it with a phone camera.</a:t>
            </a:r>
          </a:p>
        </p:txBody>
      </p:sp>
      <p:sp>
        <p:nvSpPr>
          <p:cNvPr id="19" name="TextBox 18"/>
          <p:cNvSpPr txBox="1"/>
          <p:nvPr/>
        </p:nvSpPr>
        <p:spPr>
          <a:xfrm>
            <a:off x="822960" y="4617720"/>
            <a:ext cx="10515600" cy="731520"/>
          </a:xfrm>
          <a:prstGeom prst="rect">
            <a:avLst/>
          </a:prstGeom>
          <a:noFill/>
        </p:spPr>
        <p:txBody>
          <a:bodyPr wrap="square" lIns="45720" rIns="45720">
            <a:spAutoFit/>
          </a:bodyPr>
          <a:lstStyle/>
          <a:p>
            <a:pPr>
              <a:defRPr sz="1700" b="0">
                <a:solidFill>
                  <a:srgbClr val="F5F8FF"/>
                </a:solidFill>
                <a:latin typeface="Aptos"/>
              </a:defRPr>
            </a:pPr>
            <a:r>
              <a:t>Real-life examples: event registration, a digital menu, portfolio links, club information and project documentation.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Practical demo 3: developer utilities</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11</a:t>
            </a:r>
          </a:p>
        </p:txBody>
      </p:sp>
      <p:sp>
        <p:nvSpPr>
          <p:cNvPr id="7" name="Rounded Rectangle 6"/>
          <p:cNvSpPr/>
          <p:nvPr/>
        </p:nvSpPr>
        <p:spPr>
          <a:xfrm>
            <a:off x="731520" y="1691640"/>
            <a:ext cx="3337560" cy="22860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856232"/>
            <a:ext cx="64008" cy="195681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856232"/>
            <a:ext cx="2971800" cy="384048"/>
          </a:xfrm>
          <a:prstGeom prst="rect">
            <a:avLst/>
          </a:prstGeom>
          <a:noFill/>
        </p:spPr>
        <p:txBody>
          <a:bodyPr wrap="square" lIns="45720" rIns="45720">
            <a:spAutoFit/>
          </a:bodyPr>
          <a:lstStyle/>
          <a:p>
            <a:pPr>
              <a:defRPr sz="1900" b="1">
                <a:solidFill>
                  <a:srgbClr val="F5F8FF"/>
                </a:solidFill>
                <a:latin typeface="Aptos"/>
              </a:defRPr>
            </a:pPr>
            <a:r>
              <a:t>JSON formatter</a:t>
            </a:r>
          </a:p>
        </p:txBody>
      </p:sp>
      <p:sp>
        <p:nvSpPr>
          <p:cNvPr id="10" name="TextBox 9"/>
          <p:cNvSpPr txBox="1"/>
          <p:nvPr/>
        </p:nvSpPr>
        <p:spPr>
          <a:xfrm>
            <a:off x="932688" y="2350008"/>
            <a:ext cx="2953512" cy="1499616"/>
          </a:xfrm>
          <a:prstGeom prst="rect">
            <a:avLst/>
          </a:prstGeom>
          <a:noFill/>
        </p:spPr>
        <p:txBody>
          <a:bodyPr wrap="square" lIns="45720" rIns="45720">
            <a:spAutoFit/>
          </a:bodyPr>
          <a:lstStyle/>
          <a:p>
            <a:pPr>
              <a:defRPr sz="1400" b="0">
                <a:solidFill>
                  <a:srgbClr val="B7C3DA"/>
                </a:solidFill>
                <a:latin typeface="Aptos"/>
              </a:defRPr>
            </a:pPr>
            <a:r>
              <a:t>Makes JSON data easier to read by adding indentation and structure.</a:t>
            </a:r>
          </a:p>
        </p:txBody>
      </p:sp>
      <p:sp>
        <p:nvSpPr>
          <p:cNvPr id="11" name="Rounded Rectangle 10"/>
          <p:cNvSpPr/>
          <p:nvPr/>
        </p:nvSpPr>
        <p:spPr>
          <a:xfrm>
            <a:off x="4434840" y="1691640"/>
            <a:ext cx="3337560" cy="22860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856232"/>
            <a:ext cx="64008" cy="195681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1856232"/>
            <a:ext cx="2971800" cy="384048"/>
          </a:xfrm>
          <a:prstGeom prst="rect">
            <a:avLst/>
          </a:prstGeom>
          <a:noFill/>
        </p:spPr>
        <p:txBody>
          <a:bodyPr wrap="square" lIns="45720" rIns="45720">
            <a:spAutoFit/>
          </a:bodyPr>
          <a:lstStyle/>
          <a:p>
            <a:pPr>
              <a:defRPr sz="1900" b="1">
                <a:solidFill>
                  <a:srgbClr val="F5F8FF"/>
                </a:solidFill>
                <a:latin typeface="Aptos"/>
              </a:defRPr>
            </a:pPr>
            <a:r>
              <a:t>Code formatter</a:t>
            </a:r>
          </a:p>
        </p:txBody>
      </p:sp>
      <p:sp>
        <p:nvSpPr>
          <p:cNvPr id="14" name="TextBox 13"/>
          <p:cNvSpPr txBox="1"/>
          <p:nvPr/>
        </p:nvSpPr>
        <p:spPr>
          <a:xfrm>
            <a:off x="4636007" y="2350008"/>
            <a:ext cx="2953512" cy="1499616"/>
          </a:xfrm>
          <a:prstGeom prst="rect">
            <a:avLst/>
          </a:prstGeom>
          <a:noFill/>
        </p:spPr>
        <p:txBody>
          <a:bodyPr wrap="square" lIns="45720" rIns="45720">
            <a:spAutoFit/>
          </a:bodyPr>
          <a:lstStyle/>
          <a:p>
            <a:pPr>
              <a:defRPr sz="1400" b="0">
                <a:solidFill>
                  <a:srgbClr val="B7C3DA"/>
                </a:solidFill>
                <a:latin typeface="Aptos"/>
              </a:defRPr>
            </a:pPr>
            <a:r>
              <a:t>Improves code layout so developers can inspect it more easily.</a:t>
            </a:r>
          </a:p>
        </p:txBody>
      </p:sp>
      <p:sp>
        <p:nvSpPr>
          <p:cNvPr id="15" name="Rounded Rectangle 14"/>
          <p:cNvSpPr/>
          <p:nvPr/>
        </p:nvSpPr>
        <p:spPr>
          <a:xfrm>
            <a:off x="8138160" y="1691640"/>
            <a:ext cx="3337560" cy="22860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856232"/>
            <a:ext cx="64008" cy="195681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856232"/>
            <a:ext cx="2971800" cy="384048"/>
          </a:xfrm>
          <a:prstGeom prst="rect">
            <a:avLst/>
          </a:prstGeom>
          <a:noFill/>
        </p:spPr>
        <p:txBody>
          <a:bodyPr wrap="square" lIns="45720" rIns="45720">
            <a:spAutoFit/>
          </a:bodyPr>
          <a:lstStyle/>
          <a:p>
            <a:pPr>
              <a:defRPr sz="1900" b="1">
                <a:solidFill>
                  <a:srgbClr val="F5F8FF"/>
                </a:solidFill>
                <a:latin typeface="Aptos"/>
              </a:defRPr>
            </a:pPr>
            <a:r>
              <a:t>Text encoder / decoder</a:t>
            </a:r>
          </a:p>
        </p:txBody>
      </p:sp>
      <p:sp>
        <p:nvSpPr>
          <p:cNvPr id="18" name="TextBox 17"/>
          <p:cNvSpPr txBox="1"/>
          <p:nvPr/>
        </p:nvSpPr>
        <p:spPr>
          <a:xfrm>
            <a:off x="8339328" y="2350008"/>
            <a:ext cx="2953512" cy="1499616"/>
          </a:xfrm>
          <a:prstGeom prst="rect">
            <a:avLst/>
          </a:prstGeom>
          <a:noFill/>
        </p:spPr>
        <p:txBody>
          <a:bodyPr wrap="square" lIns="45720" rIns="45720">
            <a:spAutoFit/>
          </a:bodyPr>
          <a:lstStyle/>
          <a:p>
            <a:pPr>
              <a:defRPr sz="1400" b="0">
                <a:solidFill>
                  <a:srgbClr val="B7C3DA"/>
                </a:solidFill>
                <a:latin typeface="Aptos"/>
              </a:defRPr>
            </a:pPr>
            <a:r>
              <a:t>Transforms data representations for compatible technical workflows; it is not encryption by itself.</a:t>
            </a:r>
          </a:p>
        </p:txBody>
      </p:sp>
      <p:sp>
        <p:nvSpPr>
          <p:cNvPr id="19" name="TextBox 18"/>
          <p:cNvSpPr txBox="1"/>
          <p:nvPr/>
        </p:nvSpPr>
        <p:spPr>
          <a:xfrm>
            <a:off x="822960" y="4526280"/>
            <a:ext cx="10607040" cy="868680"/>
          </a:xfrm>
          <a:prstGeom prst="rect">
            <a:avLst/>
          </a:prstGeom>
          <a:noFill/>
        </p:spPr>
        <p:txBody>
          <a:bodyPr wrap="square" lIns="45720" rIns="45720">
            <a:spAutoFit/>
          </a:bodyPr>
          <a:lstStyle/>
          <a:p>
            <a:pPr>
              <a:defRPr sz="1700" b="0">
                <a:solidFill>
                  <a:srgbClr val="F5F8FF"/>
                </a:solidFill>
                <a:latin typeface="Aptos"/>
              </a:defRPr>
            </a:pPr>
            <a:r>
              <a:t>College example: a web-development student checks whether a JSON response is readable before debugging an API project.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Why would someone use Nexora?</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12</a:t>
            </a:r>
          </a:p>
        </p:txBody>
      </p:sp>
      <p:sp>
        <p:nvSpPr>
          <p:cNvPr id="7" name="Rounded Rectangle 6"/>
          <p:cNvSpPr/>
          <p:nvPr/>
        </p:nvSpPr>
        <p:spPr>
          <a:xfrm>
            <a:off x="731520" y="1645920"/>
            <a:ext cx="5166360" cy="107899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810512"/>
            <a:ext cx="64008" cy="74980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810512"/>
            <a:ext cx="4800600" cy="384048"/>
          </a:xfrm>
          <a:prstGeom prst="rect">
            <a:avLst/>
          </a:prstGeom>
          <a:noFill/>
        </p:spPr>
        <p:txBody>
          <a:bodyPr wrap="square" lIns="45720" rIns="45720">
            <a:spAutoFit/>
          </a:bodyPr>
          <a:lstStyle/>
          <a:p>
            <a:pPr>
              <a:defRPr sz="1500" b="1">
                <a:solidFill>
                  <a:srgbClr val="F5F8FF"/>
                </a:solidFill>
                <a:latin typeface="Aptos"/>
              </a:defRPr>
            </a:pPr>
            <a:r>
              <a:t>Convenience</a:t>
            </a:r>
          </a:p>
        </p:txBody>
      </p:sp>
      <p:sp>
        <p:nvSpPr>
          <p:cNvPr id="10" name="TextBox 9"/>
          <p:cNvSpPr txBox="1"/>
          <p:nvPr/>
        </p:nvSpPr>
        <p:spPr>
          <a:xfrm>
            <a:off x="932688" y="2304288"/>
            <a:ext cx="4782312" cy="292607"/>
          </a:xfrm>
          <a:prstGeom prst="rect">
            <a:avLst/>
          </a:prstGeom>
          <a:noFill/>
        </p:spPr>
        <p:txBody>
          <a:bodyPr wrap="square" lIns="45720" rIns="45720">
            <a:spAutoFit/>
          </a:bodyPr>
          <a:lstStyle/>
          <a:p>
            <a:pPr>
              <a:defRPr sz="1200" b="0">
                <a:solidFill>
                  <a:srgbClr val="B7C3DA"/>
                </a:solidFill>
                <a:latin typeface="Aptos"/>
              </a:defRPr>
            </a:pPr>
            <a:r>
              <a:t>Related tools can be found in one familiar place.</a:t>
            </a:r>
          </a:p>
        </p:txBody>
      </p:sp>
      <p:sp>
        <p:nvSpPr>
          <p:cNvPr id="11" name="Rounded Rectangle 10"/>
          <p:cNvSpPr/>
          <p:nvPr/>
        </p:nvSpPr>
        <p:spPr>
          <a:xfrm>
            <a:off x="6309359" y="1645920"/>
            <a:ext cx="5166360" cy="107899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59" y="1810512"/>
            <a:ext cx="64008" cy="749808"/>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0527" y="1810512"/>
            <a:ext cx="4800600" cy="384048"/>
          </a:xfrm>
          <a:prstGeom prst="rect">
            <a:avLst/>
          </a:prstGeom>
          <a:noFill/>
        </p:spPr>
        <p:txBody>
          <a:bodyPr wrap="square" lIns="45720" rIns="45720">
            <a:spAutoFit/>
          </a:bodyPr>
          <a:lstStyle/>
          <a:p>
            <a:pPr>
              <a:defRPr sz="1500" b="1">
                <a:solidFill>
                  <a:srgbClr val="F5F8FF"/>
                </a:solidFill>
                <a:latin typeface="Aptos"/>
              </a:defRPr>
            </a:pPr>
            <a:r>
              <a:t>Time saving</a:t>
            </a:r>
          </a:p>
        </p:txBody>
      </p:sp>
      <p:sp>
        <p:nvSpPr>
          <p:cNvPr id="14" name="TextBox 13"/>
          <p:cNvSpPr txBox="1"/>
          <p:nvPr/>
        </p:nvSpPr>
        <p:spPr>
          <a:xfrm>
            <a:off x="6510527" y="2304288"/>
            <a:ext cx="4782312" cy="292607"/>
          </a:xfrm>
          <a:prstGeom prst="rect">
            <a:avLst/>
          </a:prstGeom>
          <a:noFill/>
        </p:spPr>
        <p:txBody>
          <a:bodyPr wrap="square" lIns="45720" rIns="45720">
            <a:spAutoFit/>
          </a:bodyPr>
          <a:lstStyle/>
          <a:p>
            <a:pPr>
              <a:defRPr sz="1200" b="0">
                <a:solidFill>
                  <a:srgbClr val="B7C3DA"/>
                </a:solidFill>
                <a:latin typeface="Aptos"/>
              </a:defRPr>
            </a:pPr>
            <a:r>
              <a:t>Less time spent searching for separate utilities.</a:t>
            </a:r>
          </a:p>
        </p:txBody>
      </p:sp>
      <p:sp>
        <p:nvSpPr>
          <p:cNvPr id="15" name="Rounded Rectangle 14"/>
          <p:cNvSpPr/>
          <p:nvPr/>
        </p:nvSpPr>
        <p:spPr>
          <a:xfrm>
            <a:off x="731520" y="2971800"/>
            <a:ext cx="5166360" cy="107899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136392"/>
            <a:ext cx="64008" cy="749808"/>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136392"/>
            <a:ext cx="4800600" cy="384048"/>
          </a:xfrm>
          <a:prstGeom prst="rect">
            <a:avLst/>
          </a:prstGeom>
          <a:noFill/>
        </p:spPr>
        <p:txBody>
          <a:bodyPr wrap="square" lIns="45720" rIns="45720">
            <a:spAutoFit/>
          </a:bodyPr>
          <a:lstStyle/>
          <a:p>
            <a:pPr>
              <a:defRPr sz="1500" b="1">
                <a:solidFill>
                  <a:srgbClr val="F5F8FF"/>
                </a:solidFill>
                <a:latin typeface="Aptos"/>
              </a:defRPr>
            </a:pPr>
            <a:r>
              <a:t>Accessible</a:t>
            </a:r>
          </a:p>
        </p:txBody>
      </p:sp>
      <p:sp>
        <p:nvSpPr>
          <p:cNvPr id="18" name="TextBox 17"/>
          <p:cNvSpPr txBox="1"/>
          <p:nvPr/>
        </p:nvSpPr>
        <p:spPr>
          <a:xfrm>
            <a:off x="932688" y="3630168"/>
            <a:ext cx="4782312" cy="292607"/>
          </a:xfrm>
          <a:prstGeom prst="rect">
            <a:avLst/>
          </a:prstGeom>
          <a:noFill/>
        </p:spPr>
        <p:txBody>
          <a:bodyPr wrap="square" lIns="45720" rIns="45720">
            <a:spAutoFit/>
          </a:bodyPr>
          <a:lstStyle/>
          <a:p>
            <a:pPr>
              <a:defRPr sz="1200" b="0">
                <a:solidFill>
                  <a:srgbClr val="B7C3DA"/>
                </a:solidFill>
                <a:latin typeface="Aptos"/>
              </a:defRPr>
            </a:pPr>
            <a:r>
              <a:t>Browser-based access may avoid software installation.</a:t>
            </a:r>
          </a:p>
        </p:txBody>
      </p:sp>
      <p:sp>
        <p:nvSpPr>
          <p:cNvPr id="19" name="Rounded Rectangle 18"/>
          <p:cNvSpPr/>
          <p:nvPr/>
        </p:nvSpPr>
        <p:spPr>
          <a:xfrm>
            <a:off x="6309359" y="2971800"/>
            <a:ext cx="5166360" cy="107899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59" y="3136392"/>
            <a:ext cx="64008" cy="749808"/>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10527" y="3136392"/>
            <a:ext cx="4800600" cy="384048"/>
          </a:xfrm>
          <a:prstGeom prst="rect">
            <a:avLst/>
          </a:prstGeom>
          <a:noFill/>
        </p:spPr>
        <p:txBody>
          <a:bodyPr wrap="square" lIns="45720" rIns="45720">
            <a:spAutoFit/>
          </a:bodyPr>
          <a:lstStyle/>
          <a:p>
            <a:pPr>
              <a:defRPr sz="1500" b="1">
                <a:solidFill>
                  <a:srgbClr val="F5F8FF"/>
                </a:solidFill>
                <a:latin typeface="Aptos"/>
              </a:defRPr>
            </a:pPr>
            <a:r>
              <a:t>Beginner friendly</a:t>
            </a:r>
          </a:p>
        </p:txBody>
      </p:sp>
      <p:sp>
        <p:nvSpPr>
          <p:cNvPr id="22" name="TextBox 21"/>
          <p:cNvSpPr txBox="1"/>
          <p:nvPr/>
        </p:nvSpPr>
        <p:spPr>
          <a:xfrm>
            <a:off x="6510527" y="3630168"/>
            <a:ext cx="4782312" cy="292607"/>
          </a:xfrm>
          <a:prstGeom prst="rect">
            <a:avLst/>
          </a:prstGeom>
          <a:noFill/>
        </p:spPr>
        <p:txBody>
          <a:bodyPr wrap="square" lIns="45720" rIns="45720">
            <a:spAutoFit/>
          </a:bodyPr>
          <a:lstStyle/>
          <a:p>
            <a:pPr>
              <a:defRPr sz="1200" b="0">
                <a:solidFill>
                  <a:srgbClr val="B7C3DA"/>
                </a:solidFill>
                <a:latin typeface="Aptos"/>
              </a:defRPr>
            </a:pPr>
            <a:r>
              <a:t>A clear workflow can help users with limited technical experience.</a:t>
            </a:r>
          </a:p>
        </p:txBody>
      </p:sp>
      <p:sp>
        <p:nvSpPr>
          <p:cNvPr id="23" name="Rounded Rectangle 22"/>
          <p:cNvSpPr/>
          <p:nvPr/>
        </p:nvSpPr>
        <p:spPr>
          <a:xfrm>
            <a:off x="731520" y="4297680"/>
            <a:ext cx="5166360" cy="107899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 y="4462272"/>
            <a:ext cx="64008" cy="74980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4462272"/>
            <a:ext cx="4800600" cy="384048"/>
          </a:xfrm>
          <a:prstGeom prst="rect">
            <a:avLst/>
          </a:prstGeom>
          <a:noFill/>
        </p:spPr>
        <p:txBody>
          <a:bodyPr wrap="square" lIns="45720" rIns="45720">
            <a:spAutoFit/>
          </a:bodyPr>
          <a:lstStyle/>
          <a:p>
            <a:pPr>
              <a:defRPr sz="1500" b="1">
                <a:solidFill>
                  <a:srgbClr val="F5F8FF"/>
                </a:solidFill>
                <a:latin typeface="Aptos"/>
              </a:defRPr>
            </a:pPr>
            <a:r>
              <a:t>Multi-purpose</a:t>
            </a:r>
          </a:p>
        </p:txBody>
      </p:sp>
      <p:sp>
        <p:nvSpPr>
          <p:cNvPr id="26" name="TextBox 25"/>
          <p:cNvSpPr txBox="1"/>
          <p:nvPr/>
        </p:nvSpPr>
        <p:spPr>
          <a:xfrm>
            <a:off x="932688" y="4956048"/>
            <a:ext cx="4782312" cy="292607"/>
          </a:xfrm>
          <a:prstGeom prst="rect">
            <a:avLst/>
          </a:prstGeom>
          <a:noFill/>
        </p:spPr>
        <p:txBody>
          <a:bodyPr wrap="square" lIns="45720" rIns="45720">
            <a:spAutoFit/>
          </a:bodyPr>
          <a:lstStyle/>
          <a:p>
            <a:pPr>
              <a:defRPr sz="1200" b="0">
                <a:solidFill>
                  <a:srgbClr val="B7C3DA"/>
                </a:solidFill>
                <a:latin typeface="Aptos"/>
              </a:defRPr>
            </a:pPr>
            <a:r>
              <a:t>Potential value across study, work, business and personal tasks.</a:t>
            </a:r>
          </a:p>
        </p:txBody>
      </p:sp>
      <p:sp>
        <p:nvSpPr>
          <p:cNvPr id="27" name="Rounded Rectangle 26"/>
          <p:cNvSpPr/>
          <p:nvPr/>
        </p:nvSpPr>
        <p:spPr>
          <a:xfrm>
            <a:off x="6309359" y="4297680"/>
            <a:ext cx="5166360" cy="107899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09359" y="4462272"/>
            <a:ext cx="64008" cy="749808"/>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10527" y="4462272"/>
            <a:ext cx="4800600" cy="384048"/>
          </a:xfrm>
          <a:prstGeom prst="rect">
            <a:avLst/>
          </a:prstGeom>
          <a:noFill/>
        </p:spPr>
        <p:txBody>
          <a:bodyPr wrap="square" lIns="45720" rIns="45720">
            <a:spAutoFit/>
          </a:bodyPr>
          <a:lstStyle/>
          <a:p>
            <a:pPr>
              <a:defRPr sz="1500" b="1">
                <a:solidFill>
                  <a:srgbClr val="F5F8FF"/>
                </a:solidFill>
                <a:latin typeface="Aptos"/>
              </a:defRPr>
            </a:pPr>
            <a:r>
              <a:t>Flexible</a:t>
            </a:r>
          </a:p>
        </p:txBody>
      </p:sp>
      <p:sp>
        <p:nvSpPr>
          <p:cNvPr id="30" name="TextBox 29"/>
          <p:cNvSpPr txBox="1"/>
          <p:nvPr/>
        </p:nvSpPr>
        <p:spPr>
          <a:xfrm>
            <a:off x="6510527" y="4956048"/>
            <a:ext cx="4782312" cy="292607"/>
          </a:xfrm>
          <a:prstGeom prst="rect">
            <a:avLst/>
          </a:prstGeom>
          <a:noFill/>
        </p:spPr>
        <p:txBody>
          <a:bodyPr wrap="square" lIns="45720" rIns="45720">
            <a:spAutoFit/>
          </a:bodyPr>
          <a:lstStyle/>
          <a:p>
            <a:pPr>
              <a:defRPr sz="1200" b="0">
                <a:solidFill>
                  <a:srgbClr val="B7C3DA"/>
                </a:solidFill>
                <a:latin typeface="Aptos"/>
              </a:defRPr>
            </a:pPr>
            <a:r>
              <a:t>Useful for quick one-off tasks as well as repeated workflows.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Nexora vs. searching tool by tool</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13</a:t>
            </a:r>
          </a:p>
        </p:txBody>
      </p:sp>
      <p:sp>
        <p:nvSpPr>
          <p:cNvPr id="7" name="Rounded Rectangle 6"/>
          <p:cNvSpPr/>
          <p:nvPr/>
        </p:nvSpPr>
        <p:spPr>
          <a:xfrm>
            <a:off x="731520" y="1691640"/>
            <a:ext cx="5074920" cy="324612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856232"/>
            <a:ext cx="64008" cy="2916936"/>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856232"/>
            <a:ext cx="4709159" cy="384048"/>
          </a:xfrm>
          <a:prstGeom prst="rect">
            <a:avLst/>
          </a:prstGeom>
          <a:noFill/>
        </p:spPr>
        <p:txBody>
          <a:bodyPr wrap="square" lIns="45720" rIns="45720">
            <a:spAutoFit/>
          </a:bodyPr>
          <a:lstStyle/>
          <a:p>
            <a:pPr>
              <a:defRPr sz="1900" b="1">
                <a:solidFill>
                  <a:srgbClr val="F5F8FF"/>
                </a:solidFill>
                <a:latin typeface="Aptos"/>
              </a:defRPr>
            </a:pPr>
            <a:r>
              <a:t>Searching separate websites</a:t>
            </a:r>
          </a:p>
        </p:txBody>
      </p:sp>
      <p:sp>
        <p:nvSpPr>
          <p:cNvPr id="10" name="TextBox 9"/>
          <p:cNvSpPr txBox="1"/>
          <p:nvPr/>
        </p:nvSpPr>
        <p:spPr>
          <a:xfrm>
            <a:off x="932688" y="2350008"/>
            <a:ext cx="4690872" cy="2459736"/>
          </a:xfrm>
          <a:prstGeom prst="rect">
            <a:avLst/>
          </a:prstGeom>
          <a:noFill/>
        </p:spPr>
        <p:txBody>
          <a:bodyPr wrap="square" lIns="45720" rIns="45720">
            <a:spAutoFit/>
          </a:bodyPr>
          <a:lstStyle/>
          <a:p>
            <a:pPr>
              <a:defRPr sz="1600" b="0">
                <a:solidFill>
                  <a:srgbClr val="B7C3DA"/>
                </a:solidFill>
                <a:latin typeface="Aptos"/>
              </a:defRPr>
            </a:pPr>
            <a:r>
              <a:t>• Open multiple tabs</a:t>
            </a:r>
            <a:br/>
            <a:r>
              <a:t>• Learn different layouts</a:t>
            </a:r>
            <a:br/>
            <a:r>
              <a:t>• Compare which tool fits</a:t>
            </a:r>
            <a:br/>
            <a:r>
              <a:t>• Repeat the search next time</a:t>
            </a:r>
          </a:p>
        </p:txBody>
      </p:sp>
      <p:sp>
        <p:nvSpPr>
          <p:cNvPr id="11" name="Rounded Rectangle 10"/>
          <p:cNvSpPr/>
          <p:nvPr/>
        </p:nvSpPr>
        <p:spPr>
          <a:xfrm>
            <a:off x="6355080" y="1691640"/>
            <a:ext cx="5074920" cy="324612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55080" y="1856232"/>
            <a:ext cx="64008" cy="291693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56248" y="1856232"/>
            <a:ext cx="4709159" cy="384048"/>
          </a:xfrm>
          <a:prstGeom prst="rect">
            <a:avLst/>
          </a:prstGeom>
          <a:noFill/>
        </p:spPr>
        <p:txBody>
          <a:bodyPr wrap="square" lIns="45720" rIns="45720">
            <a:spAutoFit/>
          </a:bodyPr>
          <a:lstStyle/>
          <a:p>
            <a:pPr>
              <a:defRPr sz="1900" b="1">
                <a:solidFill>
                  <a:srgbClr val="F5F8FF"/>
                </a:solidFill>
                <a:latin typeface="Aptos"/>
              </a:defRPr>
            </a:pPr>
            <a:r>
              <a:t>Using one organized hub</a:t>
            </a:r>
          </a:p>
        </p:txBody>
      </p:sp>
      <p:sp>
        <p:nvSpPr>
          <p:cNvPr id="14" name="TextBox 13"/>
          <p:cNvSpPr txBox="1"/>
          <p:nvPr/>
        </p:nvSpPr>
        <p:spPr>
          <a:xfrm>
            <a:off x="6556248" y="2350008"/>
            <a:ext cx="4690872" cy="2459736"/>
          </a:xfrm>
          <a:prstGeom prst="rect">
            <a:avLst/>
          </a:prstGeom>
          <a:noFill/>
        </p:spPr>
        <p:txBody>
          <a:bodyPr wrap="square" lIns="45720" rIns="45720">
            <a:spAutoFit/>
          </a:bodyPr>
          <a:lstStyle/>
          <a:p>
            <a:pPr>
              <a:defRPr sz="1600" b="0">
                <a:solidFill>
                  <a:srgbClr val="B7C3DA"/>
                </a:solidFill>
                <a:latin typeface="Aptos"/>
              </a:defRPr>
            </a:pPr>
            <a:r>
              <a:t>• Browse categories in one place</a:t>
            </a:r>
            <a:br/>
            <a:r>
              <a:t>• Follow a familiar workflow</a:t>
            </a:r>
            <a:br/>
            <a:r>
              <a:t>• Find related utilities together</a:t>
            </a:r>
            <a:br/>
            <a:r>
              <a:t>• Spend more attention on the task</a:t>
            </a:r>
          </a:p>
        </p:txBody>
      </p:sp>
      <p:sp>
        <p:nvSpPr>
          <p:cNvPr id="15" name="TextBox 14"/>
          <p:cNvSpPr txBox="1"/>
          <p:nvPr/>
        </p:nvSpPr>
        <p:spPr>
          <a:xfrm>
            <a:off x="822960" y="5349240"/>
            <a:ext cx="10424160" cy="502920"/>
          </a:xfrm>
          <a:prstGeom prst="rect">
            <a:avLst/>
          </a:prstGeom>
          <a:noFill/>
        </p:spPr>
        <p:txBody>
          <a:bodyPr wrap="square" lIns="45720" rIns="45720">
            <a:spAutoFit/>
          </a:bodyPr>
          <a:lstStyle/>
          <a:p>
            <a:pPr>
              <a:defRPr sz="1300" b="0">
                <a:solidFill>
                  <a:srgbClr val="B7C3DA"/>
                </a:solidFill>
                <a:latin typeface="Aptos"/>
              </a:defRPr>
            </a:pPr>
            <a:r>
              <a:t>Fair comparison: actual speed, tool quality, privacy and cost should be tested on the real website.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Responsible use: privacy and limitations</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14</a:t>
            </a:r>
          </a:p>
        </p:txBody>
      </p:sp>
      <p:sp>
        <p:nvSpPr>
          <p:cNvPr id="7" name="Rounded Rectangle 6"/>
          <p:cNvSpPr/>
          <p:nvPr/>
        </p:nvSpPr>
        <p:spPr>
          <a:xfrm>
            <a:off x="731520" y="1691640"/>
            <a:ext cx="3429000" cy="25146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856232"/>
            <a:ext cx="64008" cy="2185416"/>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856232"/>
            <a:ext cx="3063240" cy="384048"/>
          </a:xfrm>
          <a:prstGeom prst="rect">
            <a:avLst/>
          </a:prstGeom>
          <a:noFill/>
        </p:spPr>
        <p:txBody>
          <a:bodyPr wrap="square" lIns="45720" rIns="45720">
            <a:spAutoFit/>
          </a:bodyPr>
          <a:lstStyle/>
          <a:p>
            <a:pPr>
              <a:defRPr sz="1700" b="1">
                <a:solidFill>
                  <a:srgbClr val="F5F8FF"/>
                </a:solidFill>
                <a:latin typeface="Aptos"/>
              </a:defRPr>
            </a:pPr>
            <a:r>
              <a:t>Check before uploading</a:t>
            </a:r>
          </a:p>
        </p:txBody>
      </p:sp>
      <p:sp>
        <p:nvSpPr>
          <p:cNvPr id="10" name="TextBox 9"/>
          <p:cNvSpPr txBox="1"/>
          <p:nvPr/>
        </p:nvSpPr>
        <p:spPr>
          <a:xfrm>
            <a:off x="932688" y="2350008"/>
            <a:ext cx="3044952" cy="1728216"/>
          </a:xfrm>
          <a:prstGeom prst="rect">
            <a:avLst/>
          </a:prstGeom>
          <a:noFill/>
        </p:spPr>
        <p:txBody>
          <a:bodyPr wrap="square" lIns="45720" rIns="45720">
            <a:spAutoFit/>
          </a:bodyPr>
          <a:lstStyle/>
          <a:p>
            <a:pPr>
              <a:defRPr sz="1300" b="0">
                <a:solidFill>
                  <a:srgbClr val="B7C3DA"/>
                </a:solidFill>
                <a:latin typeface="Aptos"/>
              </a:defRPr>
            </a:pPr>
            <a:r>
              <a:t>Do not upload sensitive identity, banking, medical or confidential college files unless you understand how they are processed.</a:t>
            </a:r>
          </a:p>
        </p:txBody>
      </p:sp>
      <p:sp>
        <p:nvSpPr>
          <p:cNvPr id="11" name="Rounded Rectangle 10"/>
          <p:cNvSpPr/>
          <p:nvPr/>
        </p:nvSpPr>
        <p:spPr>
          <a:xfrm>
            <a:off x="4389120" y="1691640"/>
            <a:ext cx="3429000" cy="25146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856232"/>
            <a:ext cx="64008" cy="218541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856232"/>
            <a:ext cx="3063240" cy="384048"/>
          </a:xfrm>
          <a:prstGeom prst="rect">
            <a:avLst/>
          </a:prstGeom>
          <a:noFill/>
        </p:spPr>
        <p:txBody>
          <a:bodyPr wrap="square" lIns="45720" rIns="45720">
            <a:spAutoFit/>
          </a:bodyPr>
          <a:lstStyle/>
          <a:p>
            <a:pPr>
              <a:defRPr sz="1700" b="1">
                <a:solidFill>
                  <a:srgbClr val="F5F8FF"/>
                </a:solidFill>
                <a:latin typeface="Aptos"/>
              </a:defRPr>
            </a:pPr>
            <a:r>
              <a:t>Verify results</a:t>
            </a:r>
          </a:p>
        </p:txBody>
      </p:sp>
      <p:sp>
        <p:nvSpPr>
          <p:cNvPr id="14" name="TextBox 13"/>
          <p:cNvSpPr txBox="1"/>
          <p:nvPr/>
        </p:nvSpPr>
        <p:spPr>
          <a:xfrm>
            <a:off x="4590288" y="2350008"/>
            <a:ext cx="3044952" cy="1728216"/>
          </a:xfrm>
          <a:prstGeom prst="rect">
            <a:avLst/>
          </a:prstGeom>
          <a:noFill/>
        </p:spPr>
        <p:txBody>
          <a:bodyPr wrap="square" lIns="45720" rIns="45720">
            <a:spAutoFit/>
          </a:bodyPr>
          <a:lstStyle/>
          <a:p>
            <a:pPr>
              <a:defRPr sz="1300" b="0">
                <a:solidFill>
                  <a:srgbClr val="B7C3DA"/>
                </a:solidFill>
                <a:latin typeface="Aptos"/>
              </a:defRPr>
            </a:pPr>
            <a:r>
              <a:t>Review compressed documents, converted files, calculations and generated codes before using them.</a:t>
            </a:r>
          </a:p>
        </p:txBody>
      </p:sp>
      <p:sp>
        <p:nvSpPr>
          <p:cNvPr id="15" name="Rounded Rectangle 14"/>
          <p:cNvSpPr/>
          <p:nvPr/>
        </p:nvSpPr>
        <p:spPr>
          <a:xfrm>
            <a:off x="8046720" y="1691640"/>
            <a:ext cx="3429000" cy="251460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856232"/>
            <a:ext cx="64008" cy="218541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856232"/>
            <a:ext cx="3063240" cy="384048"/>
          </a:xfrm>
          <a:prstGeom prst="rect">
            <a:avLst/>
          </a:prstGeom>
          <a:noFill/>
        </p:spPr>
        <p:txBody>
          <a:bodyPr wrap="square" lIns="45720" rIns="45720">
            <a:spAutoFit/>
          </a:bodyPr>
          <a:lstStyle/>
          <a:p>
            <a:pPr>
              <a:defRPr sz="1700" b="1">
                <a:solidFill>
                  <a:srgbClr val="F5F8FF"/>
                </a:solidFill>
                <a:latin typeface="Aptos"/>
              </a:defRPr>
            </a:pPr>
            <a:r>
              <a:t>Know the limits</a:t>
            </a:r>
          </a:p>
        </p:txBody>
      </p:sp>
      <p:sp>
        <p:nvSpPr>
          <p:cNvPr id="18" name="TextBox 17"/>
          <p:cNvSpPr txBox="1"/>
          <p:nvPr/>
        </p:nvSpPr>
        <p:spPr>
          <a:xfrm>
            <a:off x="8247888" y="2350008"/>
            <a:ext cx="3044952" cy="1728216"/>
          </a:xfrm>
          <a:prstGeom prst="rect">
            <a:avLst/>
          </a:prstGeom>
          <a:noFill/>
        </p:spPr>
        <p:txBody>
          <a:bodyPr wrap="square" lIns="45720" rIns="45720">
            <a:spAutoFit/>
          </a:bodyPr>
          <a:lstStyle/>
          <a:p>
            <a:pPr>
              <a:defRPr sz="1300" b="0">
                <a:solidFill>
                  <a:srgbClr val="B7C3DA"/>
                </a:solidFill>
                <a:latin typeface="Aptos"/>
              </a:defRPr>
            </a:pPr>
            <a:r>
              <a:t>Some tools may need internet access, may have file limits, or may send data to a server or third party.</a:t>
            </a:r>
          </a:p>
        </p:txBody>
      </p:sp>
      <p:sp>
        <p:nvSpPr>
          <p:cNvPr id="19" name="TextBox 18"/>
          <p:cNvSpPr txBox="1"/>
          <p:nvPr/>
        </p:nvSpPr>
        <p:spPr>
          <a:xfrm>
            <a:off x="822960" y="4709160"/>
            <a:ext cx="10515600" cy="640080"/>
          </a:xfrm>
          <a:prstGeom prst="rect">
            <a:avLst/>
          </a:prstGeom>
          <a:noFill/>
        </p:spPr>
        <p:txBody>
          <a:bodyPr wrap="square" lIns="45720" rIns="45720">
            <a:spAutoFit/>
          </a:bodyPr>
          <a:lstStyle/>
          <a:p>
            <a:pPr>
              <a:defRPr sz="1400" b="1">
                <a:solidFill>
                  <a:srgbClr val="FFC75F"/>
                </a:solidFill>
                <a:latin typeface="Aptos"/>
              </a:defRPr>
            </a:pPr>
            <a:r>
              <a:t>Do not claim a tool is free, private or fully browser-based unless the website confirms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Future scope and improvement ideas</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15</a:t>
            </a:r>
          </a:p>
        </p:txBody>
      </p:sp>
      <p:sp>
        <p:nvSpPr>
          <p:cNvPr id="7" name="TextBox 6"/>
          <p:cNvSpPr txBox="1"/>
          <p:nvPr/>
        </p:nvSpPr>
        <p:spPr>
          <a:xfrm>
            <a:off x="868680" y="1691640"/>
            <a:ext cx="6400800" cy="4206240"/>
          </a:xfrm>
          <a:prstGeom prst="rect">
            <a:avLst/>
          </a:prstGeom>
          <a:noFill/>
        </p:spPr>
        <p:txBody>
          <a:bodyPr wrap="square" lIns="36576" tIns="18288" rIns="36576" bIns="18288">
            <a:spAutoFit/>
          </a:bodyPr>
          <a:lstStyle/>
          <a:p>
            <a:pPr>
              <a:spcAft>
                <a:spcPts val="1000"/>
              </a:spcAft>
              <a:defRPr sz="1800">
                <a:solidFill>
                  <a:srgbClr val="F5F8FF"/>
                </a:solidFill>
                <a:latin typeface="Aptos"/>
              </a:defRPr>
            </a:pPr>
            <a:r>
              <a:t>•  Improve search and categories so users find tools quickly.</a:t>
            </a:r>
          </a:p>
          <a:p>
            <a:pPr>
              <a:spcAft>
                <a:spcPts val="1000"/>
              </a:spcAft>
              <a:defRPr sz="1800">
                <a:solidFill>
                  <a:srgbClr val="F5F8FF"/>
                </a:solidFill>
                <a:latin typeface="Aptos"/>
              </a:defRPr>
            </a:pPr>
            <a:r>
              <a:t>•  Add short how-to instructions and examples inside each tool.</a:t>
            </a:r>
          </a:p>
          <a:p>
            <a:pPr>
              <a:spcAft>
                <a:spcPts val="1000"/>
              </a:spcAft>
              <a:defRPr sz="1800">
                <a:solidFill>
                  <a:srgbClr val="F5F8FF"/>
                </a:solidFill>
                <a:latin typeface="Aptos"/>
              </a:defRPr>
            </a:pPr>
            <a:r>
              <a:t>•  Make the interface work well on mobile and desktop.</a:t>
            </a:r>
          </a:p>
          <a:p>
            <a:pPr>
              <a:spcAft>
                <a:spcPts val="1000"/>
              </a:spcAft>
              <a:defRPr sz="1800">
                <a:solidFill>
                  <a:srgbClr val="F5F8FF"/>
                </a:solidFill>
                <a:latin typeface="Aptos"/>
              </a:defRPr>
            </a:pPr>
            <a:r>
              <a:t>•  Provide clear file-size limits, supported formats and error messages.</a:t>
            </a:r>
          </a:p>
          <a:p>
            <a:pPr>
              <a:spcAft>
                <a:spcPts val="1000"/>
              </a:spcAft>
              <a:defRPr sz="1800">
                <a:solidFill>
                  <a:srgbClr val="F5F8FF"/>
                </a:solidFill>
                <a:latin typeface="Aptos"/>
              </a:defRPr>
            </a:pPr>
            <a:r>
              <a:t>•  Explain privacy and processing behavior for every tool.</a:t>
            </a:r>
          </a:p>
          <a:p>
            <a:pPr>
              <a:spcAft>
                <a:spcPts val="1000"/>
              </a:spcAft>
              <a:defRPr sz="1800">
                <a:solidFill>
                  <a:srgbClr val="F5F8FF"/>
                </a:solidFill>
                <a:latin typeface="Aptos"/>
              </a:defRPr>
            </a:pPr>
            <a:r>
              <a:t>•  Collect feedback and prioritize the most-requested utilities.</a:t>
            </a:r>
          </a:p>
        </p:txBody>
      </p:sp>
      <p:sp>
        <p:nvSpPr>
          <p:cNvPr id="8" name="Rounded Rectangle 7"/>
          <p:cNvSpPr/>
          <p:nvPr/>
        </p:nvSpPr>
        <p:spPr>
          <a:xfrm>
            <a:off x="7635240" y="1920240"/>
            <a:ext cx="3474720" cy="246888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35240" y="2084832"/>
            <a:ext cx="64008" cy="213969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36408" y="2084832"/>
            <a:ext cx="3108960" cy="384048"/>
          </a:xfrm>
          <a:prstGeom prst="rect">
            <a:avLst/>
          </a:prstGeom>
          <a:noFill/>
        </p:spPr>
        <p:txBody>
          <a:bodyPr wrap="square" lIns="45720" rIns="45720">
            <a:spAutoFit/>
          </a:bodyPr>
          <a:lstStyle/>
          <a:p>
            <a:pPr>
              <a:defRPr sz="2000" b="1">
                <a:solidFill>
                  <a:srgbClr val="F5F8FF"/>
                </a:solidFill>
                <a:latin typeface="Aptos"/>
              </a:defRPr>
            </a:pPr>
            <a:r>
              <a:t>Product goal</a:t>
            </a:r>
          </a:p>
        </p:txBody>
      </p:sp>
      <p:sp>
        <p:nvSpPr>
          <p:cNvPr id="11" name="TextBox 10"/>
          <p:cNvSpPr txBox="1"/>
          <p:nvPr/>
        </p:nvSpPr>
        <p:spPr>
          <a:xfrm>
            <a:off x="7836408" y="2578608"/>
            <a:ext cx="3090672" cy="1682496"/>
          </a:xfrm>
          <a:prstGeom prst="rect">
            <a:avLst/>
          </a:prstGeom>
          <a:noFill/>
        </p:spPr>
        <p:txBody>
          <a:bodyPr wrap="square" lIns="45720" rIns="45720">
            <a:spAutoFit/>
          </a:bodyPr>
          <a:lstStyle/>
          <a:p>
            <a:pPr>
              <a:defRPr sz="1600" b="0">
                <a:solidFill>
                  <a:srgbClr val="B7C3DA"/>
                </a:solidFill>
                <a:latin typeface="Aptos"/>
              </a:defRPr>
            </a:pPr>
            <a:r>
              <a:t>A dependable, easy-to-use toolkit that solves small everyday problems with fewer steps.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0972800" cy="320040"/>
          </a:xfrm>
          <a:prstGeom prst="rect">
            <a:avLst/>
          </a:prstGeom>
          <a:noFill/>
        </p:spPr>
        <p:txBody>
          <a:bodyPr wrap="square" lIns="45720" rIns="45720">
            <a:spAutoFit/>
          </a:bodyPr>
          <a:lstStyle/>
          <a:p>
            <a:pPr>
              <a:defRPr sz="1100" b="1">
                <a:solidFill>
                  <a:srgbClr val="27D7BE"/>
                </a:solidFill>
                <a:latin typeface="Aptos"/>
              </a:defRPr>
            </a:pPr>
            <a:r>
              <a:t>NEXORA PRO MAX ENHANCED</a:t>
            </a:r>
          </a:p>
        </p:txBody>
      </p:sp>
      <p:sp>
        <p:nvSpPr>
          <p:cNvPr id="3" name="TextBox 2"/>
          <p:cNvSpPr txBox="1"/>
          <p:nvPr/>
        </p:nvSpPr>
        <p:spPr>
          <a:xfrm>
            <a:off x="731520" y="1143000"/>
            <a:ext cx="7772400" cy="777240"/>
          </a:xfrm>
          <a:prstGeom prst="rect">
            <a:avLst/>
          </a:prstGeom>
          <a:noFill/>
        </p:spPr>
        <p:txBody>
          <a:bodyPr wrap="square" lIns="45720" rIns="45720">
            <a:spAutoFit/>
          </a:bodyPr>
          <a:lstStyle/>
          <a:p>
            <a:pPr>
              <a:defRPr sz="3600" b="1">
                <a:solidFill>
                  <a:srgbClr val="F5F8FF"/>
                </a:solidFill>
                <a:latin typeface="Aptos"/>
              </a:defRPr>
            </a:pPr>
            <a:r>
              <a:t>Conclusion</a:t>
            </a:r>
          </a:p>
        </p:txBody>
      </p:sp>
      <p:sp>
        <p:nvSpPr>
          <p:cNvPr id="4" name="TextBox 3"/>
          <p:cNvSpPr txBox="1"/>
          <p:nvPr/>
        </p:nvSpPr>
        <p:spPr>
          <a:xfrm>
            <a:off x="777240" y="2148840"/>
            <a:ext cx="7498079" cy="1371600"/>
          </a:xfrm>
          <a:prstGeom prst="rect">
            <a:avLst/>
          </a:prstGeom>
          <a:noFill/>
        </p:spPr>
        <p:txBody>
          <a:bodyPr wrap="square" lIns="45720" rIns="45720">
            <a:spAutoFit/>
          </a:bodyPr>
          <a:lstStyle/>
          <a:p>
            <a:pPr>
              <a:defRPr sz="2500" b="1">
                <a:solidFill>
                  <a:srgbClr val="B7C3DA"/>
                </a:solidFill>
                <a:latin typeface="Aptos"/>
              </a:defRPr>
            </a:pPr>
            <a:r>
              <a:t>Nexora’s value is simple: make common digital tasks easier to discover and complete.</a:t>
            </a:r>
          </a:p>
        </p:txBody>
      </p:sp>
      <p:sp>
        <p:nvSpPr>
          <p:cNvPr id="5" name="Rounded Rectangle 4"/>
          <p:cNvSpPr/>
          <p:nvPr/>
        </p:nvSpPr>
        <p:spPr>
          <a:xfrm>
            <a:off x="777240" y="3977639"/>
            <a:ext cx="3246120" cy="12344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4142231"/>
            <a:ext cx="64008" cy="90525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4142231"/>
            <a:ext cx="2880360" cy="384048"/>
          </a:xfrm>
          <a:prstGeom prst="rect">
            <a:avLst/>
          </a:prstGeom>
          <a:noFill/>
        </p:spPr>
        <p:txBody>
          <a:bodyPr wrap="square" lIns="45720" rIns="45720">
            <a:spAutoFit/>
          </a:bodyPr>
          <a:lstStyle/>
          <a:p>
            <a:pPr>
              <a:defRPr sz="1600" b="1">
                <a:solidFill>
                  <a:srgbClr val="F5F8FF"/>
                </a:solidFill>
                <a:latin typeface="Aptos"/>
              </a:defRPr>
            </a:pPr>
            <a:r>
              <a:t>For students</a:t>
            </a:r>
          </a:p>
        </p:txBody>
      </p:sp>
      <p:sp>
        <p:nvSpPr>
          <p:cNvPr id="8" name="TextBox 7"/>
          <p:cNvSpPr txBox="1"/>
          <p:nvPr/>
        </p:nvSpPr>
        <p:spPr>
          <a:xfrm>
            <a:off x="978408" y="4636007"/>
            <a:ext cx="2862072" cy="448056"/>
          </a:xfrm>
          <a:prstGeom prst="rect">
            <a:avLst/>
          </a:prstGeom>
          <a:noFill/>
        </p:spPr>
        <p:txBody>
          <a:bodyPr wrap="square" lIns="45720" rIns="45720">
            <a:spAutoFit/>
          </a:bodyPr>
          <a:lstStyle/>
          <a:p>
            <a:pPr>
              <a:defRPr sz="1200" b="0">
                <a:solidFill>
                  <a:srgbClr val="B7C3DA"/>
                </a:solidFill>
                <a:latin typeface="Aptos"/>
              </a:defRPr>
            </a:pPr>
            <a:r>
              <a:t>Study and project workflows</a:t>
            </a:r>
          </a:p>
        </p:txBody>
      </p:sp>
      <p:sp>
        <p:nvSpPr>
          <p:cNvPr id="9" name="Rounded Rectangle 8"/>
          <p:cNvSpPr/>
          <p:nvPr/>
        </p:nvSpPr>
        <p:spPr>
          <a:xfrm>
            <a:off x="4297680" y="3977639"/>
            <a:ext cx="3246120" cy="12344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7680" y="4142231"/>
            <a:ext cx="64008" cy="90525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98848" y="4142231"/>
            <a:ext cx="2880360" cy="384048"/>
          </a:xfrm>
          <a:prstGeom prst="rect">
            <a:avLst/>
          </a:prstGeom>
          <a:noFill/>
        </p:spPr>
        <p:txBody>
          <a:bodyPr wrap="square" lIns="45720" rIns="45720">
            <a:spAutoFit/>
          </a:bodyPr>
          <a:lstStyle/>
          <a:p>
            <a:pPr>
              <a:defRPr sz="1600" b="1">
                <a:solidFill>
                  <a:srgbClr val="F5F8FF"/>
                </a:solidFill>
                <a:latin typeface="Aptos"/>
              </a:defRPr>
            </a:pPr>
            <a:r>
              <a:t>For professionals</a:t>
            </a:r>
          </a:p>
        </p:txBody>
      </p:sp>
      <p:sp>
        <p:nvSpPr>
          <p:cNvPr id="12" name="TextBox 11"/>
          <p:cNvSpPr txBox="1"/>
          <p:nvPr/>
        </p:nvSpPr>
        <p:spPr>
          <a:xfrm>
            <a:off x="4498848" y="4636007"/>
            <a:ext cx="2862072" cy="448056"/>
          </a:xfrm>
          <a:prstGeom prst="rect">
            <a:avLst/>
          </a:prstGeom>
          <a:noFill/>
        </p:spPr>
        <p:txBody>
          <a:bodyPr wrap="square" lIns="45720" rIns="45720">
            <a:spAutoFit/>
          </a:bodyPr>
          <a:lstStyle/>
          <a:p>
            <a:pPr>
              <a:defRPr sz="1200" b="0">
                <a:solidFill>
                  <a:srgbClr val="B7C3DA"/>
                </a:solidFill>
                <a:latin typeface="Aptos"/>
              </a:defRPr>
            </a:pPr>
            <a:r>
              <a:t>Everyday productivity</a:t>
            </a:r>
          </a:p>
        </p:txBody>
      </p:sp>
      <p:sp>
        <p:nvSpPr>
          <p:cNvPr id="13" name="Rounded Rectangle 12"/>
          <p:cNvSpPr/>
          <p:nvPr/>
        </p:nvSpPr>
        <p:spPr>
          <a:xfrm>
            <a:off x="7818120" y="3977639"/>
            <a:ext cx="3246120" cy="12344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818120" y="4142231"/>
            <a:ext cx="64008" cy="905256"/>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19288" y="4142231"/>
            <a:ext cx="2880360" cy="384048"/>
          </a:xfrm>
          <a:prstGeom prst="rect">
            <a:avLst/>
          </a:prstGeom>
          <a:noFill/>
        </p:spPr>
        <p:txBody>
          <a:bodyPr wrap="square" lIns="45720" rIns="45720">
            <a:spAutoFit/>
          </a:bodyPr>
          <a:lstStyle/>
          <a:p>
            <a:pPr>
              <a:defRPr sz="1600" b="1">
                <a:solidFill>
                  <a:srgbClr val="F5F8FF"/>
                </a:solidFill>
                <a:latin typeface="Aptos"/>
              </a:defRPr>
            </a:pPr>
            <a:r>
              <a:t>For everyone</a:t>
            </a:r>
          </a:p>
        </p:txBody>
      </p:sp>
      <p:sp>
        <p:nvSpPr>
          <p:cNvPr id="16" name="TextBox 15"/>
          <p:cNvSpPr txBox="1"/>
          <p:nvPr/>
        </p:nvSpPr>
        <p:spPr>
          <a:xfrm>
            <a:off x="8019288" y="4636007"/>
            <a:ext cx="2862072" cy="448056"/>
          </a:xfrm>
          <a:prstGeom prst="rect">
            <a:avLst/>
          </a:prstGeom>
          <a:noFill/>
        </p:spPr>
        <p:txBody>
          <a:bodyPr wrap="square" lIns="45720" rIns="45720">
            <a:spAutoFit/>
          </a:bodyPr>
          <a:lstStyle/>
          <a:p>
            <a:pPr>
              <a:defRPr sz="1200" b="0">
                <a:solidFill>
                  <a:srgbClr val="B7C3DA"/>
                </a:solidFill>
                <a:latin typeface="Aptos"/>
              </a:defRPr>
            </a:pPr>
            <a:r>
              <a:t>Practical online utilities</a:t>
            </a:r>
          </a:p>
        </p:txBody>
      </p:sp>
      <p:sp>
        <p:nvSpPr>
          <p:cNvPr id="17" name="TextBox 16"/>
          <p:cNvSpPr txBox="1"/>
          <p:nvPr/>
        </p:nvSpPr>
        <p:spPr>
          <a:xfrm>
            <a:off x="777240" y="5760720"/>
            <a:ext cx="7772400" cy="411480"/>
          </a:xfrm>
          <a:prstGeom prst="rect">
            <a:avLst/>
          </a:prstGeom>
          <a:noFill/>
        </p:spPr>
        <p:txBody>
          <a:bodyPr wrap="square" lIns="45720" rIns="45720">
            <a:spAutoFit/>
          </a:bodyPr>
          <a:lstStyle/>
          <a:p>
            <a:pPr>
              <a:defRPr sz="1800" b="1">
                <a:solidFill>
                  <a:srgbClr val="FFC75F"/>
                </a:solidFill>
                <a:latin typeface="Aptos"/>
              </a:defRPr>
            </a:pPr>
            <a:r>
              <a:t>Thank you  •  Questions &amp; Answers</a:t>
            </a:r>
          </a:p>
        </p:txBody>
      </p:sp>
      <p:sp>
        <p:nvSpPr>
          <p:cNvPr id="18" name="TextBox 17"/>
          <p:cNvSpPr txBox="1"/>
          <p:nvPr/>
        </p:nvSpPr>
        <p:spPr>
          <a:xfrm>
            <a:off x="8595360" y="5989320"/>
            <a:ext cx="2560320" cy="320040"/>
          </a:xfrm>
          <a:prstGeom prst="rect">
            <a:avLst/>
          </a:prstGeom>
          <a:noFill/>
        </p:spPr>
        <p:txBody>
          <a:bodyPr wrap="square" lIns="45720" rIns="45720">
            <a:spAutoFit/>
          </a:bodyPr>
          <a:lstStyle/>
          <a:p>
            <a:pPr algn="r">
              <a:defRPr sz="1000" b="0">
                <a:solidFill>
                  <a:srgbClr val="B7C3DA"/>
                </a:solidFill>
                <a:latin typeface="Aptos"/>
              </a:defRPr>
            </a:pPr>
            <a:r>
              <a:t>Presented by Shubham Kumar Verma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Speaking script: opening + closing</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17</a:t>
            </a:r>
          </a:p>
        </p:txBody>
      </p:sp>
      <p:sp>
        <p:nvSpPr>
          <p:cNvPr id="7" name="Rounded Rectangle 6"/>
          <p:cNvSpPr/>
          <p:nvPr/>
        </p:nvSpPr>
        <p:spPr>
          <a:xfrm>
            <a:off x="731520" y="1645920"/>
            <a:ext cx="5212080" cy="35204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810512"/>
            <a:ext cx="64008" cy="3191256"/>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810512"/>
            <a:ext cx="4846320" cy="384048"/>
          </a:xfrm>
          <a:prstGeom prst="rect">
            <a:avLst/>
          </a:prstGeom>
          <a:noFill/>
        </p:spPr>
        <p:txBody>
          <a:bodyPr wrap="square" lIns="45720" rIns="45720">
            <a:spAutoFit/>
          </a:bodyPr>
          <a:lstStyle/>
          <a:p>
            <a:pPr>
              <a:defRPr sz="1800" b="1">
                <a:solidFill>
                  <a:srgbClr val="F5F8FF"/>
                </a:solidFill>
                <a:latin typeface="Aptos"/>
              </a:defRPr>
            </a:pPr>
            <a:r>
              <a:t>Opening (say this)</a:t>
            </a:r>
          </a:p>
        </p:txBody>
      </p:sp>
      <p:sp>
        <p:nvSpPr>
          <p:cNvPr id="10" name="TextBox 9"/>
          <p:cNvSpPr txBox="1"/>
          <p:nvPr/>
        </p:nvSpPr>
        <p:spPr>
          <a:xfrm>
            <a:off x="932688" y="2304288"/>
            <a:ext cx="4828032" cy="2734056"/>
          </a:xfrm>
          <a:prstGeom prst="rect">
            <a:avLst/>
          </a:prstGeom>
          <a:noFill/>
        </p:spPr>
        <p:txBody>
          <a:bodyPr wrap="square" lIns="45720" rIns="45720">
            <a:spAutoFit/>
          </a:bodyPr>
          <a:lstStyle/>
          <a:p>
            <a:pPr>
              <a:defRPr sz="1500" b="0">
                <a:solidFill>
                  <a:srgbClr val="B7C3DA"/>
                </a:solidFill>
                <a:latin typeface="Aptos"/>
              </a:defRPr>
            </a:pPr>
            <a:r>
              <a:t>“Good morning respected teachers and my dear friends. Today I am presenting my project, Nexora Pro Max Enhanced. The main idea is to bring practical digital utilities into a convenient workspace. I will explain what the platform is for, how different types of users can use it, and how it can help in real-life situations.”</a:t>
            </a:r>
          </a:p>
        </p:txBody>
      </p:sp>
      <p:sp>
        <p:nvSpPr>
          <p:cNvPr id="11" name="Rounded Rectangle 10"/>
          <p:cNvSpPr/>
          <p:nvPr/>
        </p:nvSpPr>
        <p:spPr>
          <a:xfrm>
            <a:off x="6263640" y="1645920"/>
            <a:ext cx="5212080" cy="3520440"/>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810512"/>
            <a:ext cx="64008" cy="3191256"/>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7" y="1810512"/>
            <a:ext cx="4846320" cy="384048"/>
          </a:xfrm>
          <a:prstGeom prst="rect">
            <a:avLst/>
          </a:prstGeom>
          <a:noFill/>
        </p:spPr>
        <p:txBody>
          <a:bodyPr wrap="square" lIns="45720" rIns="45720">
            <a:spAutoFit/>
          </a:bodyPr>
          <a:lstStyle/>
          <a:p>
            <a:pPr>
              <a:defRPr sz="1800" b="1">
                <a:solidFill>
                  <a:srgbClr val="F5F8FF"/>
                </a:solidFill>
                <a:latin typeface="Aptos"/>
              </a:defRPr>
            </a:pPr>
            <a:r>
              <a:t>Closing (say this)</a:t>
            </a:r>
          </a:p>
        </p:txBody>
      </p:sp>
      <p:sp>
        <p:nvSpPr>
          <p:cNvPr id="14" name="TextBox 13"/>
          <p:cNvSpPr txBox="1"/>
          <p:nvPr/>
        </p:nvSpPr>
        <p:spPr>
          <a:xfrm>
            <a:off x="6464807" y="2304288"/>
            <a:ext cx="4828032" cy="2734056"/>
          </a:xfrm>
          <a:prstGeom prst="rect">
            <a:avLst/>
          </a:prstGeom>
          <a:noFill/>
        </p:spPr>
        <p:txBody>
          <a:bodyPr wrap="square" lIns="45720" rIns="45720">
            <a:spAutoFit/>
          </a:bodyPr>
          <a:lstStyle/>
          <a:p>
            <a:pPr>
              <a:defRPr sz="1500" b="0">
                <a:solidFill>
                  <a:srgbClr val="B7C3DA"/>
                </a:solidFill>
                <a:latin typeface="Aptos"/>
              </a:defRPr>
            </a:pPr>
            <a:r>
              <a:t>“To conclude, a useful tool is not only about its feature; it is about the problem it solves. Nexora aims to reduce unnecessary steps for common digital tasks. Before using any tool, users should check the output and understand how their files or data are handled. Thank you. I am happy to answer your questions.”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Possible viva questions</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18</a:t>
            </a:r>
          </a:p>
        </p:txBody>
      </p:sp>
      <p:sp>
        <p:nvSpPr>
          <p:cNvPr id="7" name="Rounded Rectangle 6"/>
          <p:cNvSpPr/>
          <p:nvPr/>
        </p:nvSpPr>
        <p:spPr>
          <a:xfrm>
            <a:off x="731520" y="1600200"/>
            <a:ext cx="5166360" cy="117043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64792"/>
            <a:ext cx="64008" cy="8412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64792"/>
            <a:ext cx="4800600" cy="384048"/>
          </a:xfrm>
          <a:prstGeom prst="rect">
            <a:avLst/>
          </a:prstGeom>
          <a:noFill/>
        </p:spPr>
        <p:txBody>
          <a:bodyPr wrap="square" lIns="45720" rIns="45720">
            <a:spAutoFit/>
          </a:bodyPr>
          <a:lstStyle/>
          <a:p>
            <a:pPr>
              <a:defRPr sz="1400" b="1">
                <a:solidFill>
                  <a:srgbClr val="F5F8FF"/>
                </a:solidFill>
                <a:latin typeface="Aptos"/>
              </a:defRPr>
            </a:pPr>
            <a:r>
              <a:t>1. What is the main purpose?</a:t>
            </a:r>
          </a:p>
        </p:txBody>
      </p:sp>
      <p:sp>
        <p:nvSpPr>
          <p:cNvPr id="10" name="TextBox 9"/>
          <p:cNvSpPr txBox="1"/>
          <p:nvPr/>
        </p:nvSpPr>
        <p:spPr>
          <a:xfrm>
            <a:off x="932688" y="2258568"/>
            <a:ext cx="4782312" cy="384048"/>
          </a:xfrm>
          <a:prstGeom prst="rect">
            <a:avLst/>
          </a:prstGeom>
          <a:noFill/>
        </p:spPr>
        <p:txBody>
          <a:bodyPr wrap="square" lIns="45720" rIns="45720">
            <a:spAutoFit/>
          </a:bodyPr>
          <a:lstStyle/>
          <a:p>
            <a:pPr>
              <a:defRPr sz="1100" b="0">
                <a:solidFill>
                  <a:srgbClr val="B7C3DA"/>
                </a:solidFill>
                <a:latin typeface="Aptos"/>
              </a:defRPr>
            </a:pPr>
            <a:r>
              <a:t>To make common digital utilities easier to find and use.</a:t>
            </a:r>
          </a:p>
        </p:txBody>
      </p:sp>
      <p:sp>
        <p:nvSpPr>
          <p:cNvPr id="11" name="Rounded Rectangle 10"/>
          <p:cNvSpPr/>
          <p:nvPr/>
        </p:nvSpPr>
        <p:spPr>
          <a:xfrm>
            <a:off x="6309359" y="1600200"/>
            <a:ext cx="5166360" cy="117043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59" y="1764792"/>
            <a:ext cx="64008" cy="841248"/>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0527" y="1764792"/>
            <a:ext cx="4800600" cy="384048"/>
          </a:xfrm>
          <a:prstGeom prst="rect">
            <a:avLst/>
          </a:prstGeom>
          <a:noFill/>
        </p:spPr>
        <p:txBody>
          <a:bodyPr wrap="square" lIns="45720" rIns="45720">
            <a:spAutoFit/>
          </a:bodyPr>
          <a:lstStyle/>
          <a:p>
            <a:pPr>
              <a:defRPr sz="1400" b="1">
                <a:solidFill>
                  <a:srgbClr val="F5F8FF"/>
                </a:solidFill>
                <a:latin typeface="Aptos"/>
              </a:defRPr>
            </a:pPr>
            <a:r>
              <a:t>2. Who can use it?</a:t>
            </a:r>
          </a:p>
        </p:txBody>
      </p:sp>
      <p:sp>
        <p:nvSpPr>
          <p:cNvPr id="14" name="TextBox 13"/>
          <p:cNvSpPr txBox="1"/>
          <p:nvPr/>
        </p:nvSpPr>
        <p:spPr>
          <a:xfrm>
            <a:off x="6510527" y="2258568"/>
            <a:ext cx="4782312" cy="384048"/>
          </a:xfrm>
          <a:prstGeom prst="rect">
            <a:avLst/>
          </a:prstGeom>
          <a:noFill/>
        </p:spPr>
        <p:txBody>
          <a:bodyPr wrap="square" lIns="45720" rIns="45720">
            <a:spAutoFit/>
          </a:bodyPr>
          <a:lstStyle/>
          <a:p>
            <a:pPr>
              <a:defRPr sz="1100" b="0">
                <a:solidFill>
                  <a:srgbClr val="B7C3DA"/>
                </a:solidFill>
                <a:latin typeface="Aptos"/>
              </a:defRPr>
            </a:pPr>
            <a:r>
              <a:t>Students, teachers, professionals, job seekers and small-business owners.</a:t>
            </a:r>
          </a:p>
        </p:txBody>
      </p:sp>
      <p:sp>
        <p:nvSpPr>
          <p:cNvPr id="15" name="Rounded Rectangle 14"/>
          <p:cNvSpPr/>
          <p:nvPr/>
        </p:nvSpPr>
        <p:spPr>
          <a:xfrm>
            <a:off x="731520" y="3017520"/>
            <a:ext cx="5166360" cy="117043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182112"/>
            <a:ext cx="64008" cy="841248"/>
          </a:xfrm>
          <a:prstGeom prst="rect">
            <a:avLst/>
          </a:prstGeom>
          <a:solidFill>
            <a:srgbClr val="AC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182112"/>
            <a:ext cx="4800600" cy="384048"/>
          </a:xfrm>
          <a:prstGeom prst="rect">
            <a:avLst/>
          </a:prstGeom>
          <a:noFill/>
        </p:spPr>
        <p:txBody>
          <a:bodyPr wrap="square" lIns="45720" rIns="45720">
            <a:spAutoFit/>
          </a:bodyPr>
          <a:lstStyle/>
          <a:p>
            <a:pPr>
              <a:defRPr sz="1400" b="1">
                <a:solidFill>
                  <a:srgbClr val="F5F8FF"/>
                </a:solidFill>
                <a:latin typeface="Aptos"/>
              </a:defRPr>
            </a:pPr>
            <a:r>
              <a:t>3. Give one college use case.</a:t>
            </a:r>
          </a:p>
        </p:txBody>
      </p:sp>
      <p:sp>
        <p:nvSpPr>
          <p:cNvPr id="18" name="TextBox 17"/>
          <p:cNvSpPr txBox="1"/>
          <p:nvPr/>
        </p:nvSpPr>
        <p:spPr>
          <a:xfrm>
            <a:off x="932688" y="3675887"/>
            <a:ext cx="4782312" cy="384048"/>
          </a:xfrm>
          <a:prstGeom prst="rect">
            <a:avLst/>
          </a:prstGeom>
          <a:noFill/>
        </p:spPr>
        <p:txBody>
          <a:bodyPr wrap="square" lIns="45720" rIns="45720">
            <a:spAutoFit/>
          </a:bodyPr>
          <a:lstStyle/>
          <a:p>
            <a:pPr>
              <a:defRPr sz="1100" b="0">
                <a:solidFill>
                  <a:srgbClr val="B7C3DA"/>
                </a:solidFill>
                <a:latin typeface="Aptos"/>
              </a:defRPr>
            </a:pPr>
            <a:r>
              <a:t>Compressing a report for upload or making a QR code for a project demo.</a:t>
            </a:r>
          </a:p>
        </p:txBody>
      </p:sp>
      <p:sp>
        <p:nvSpPr>
          <p:cNvPr id="19" name="Rounded Rectangle 18"/>
          <p:cNvSpPr/>
          <p:nvPr/>
        </p:nvSpPr>
        <p:spPr>
          <a:xfrm>
            <a:off x="6309359" y="3017520"/>
            <a:ext cx="5166360" cy="117043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59" y="3182112"/>
            <a:ext cx="64008" cy="841248"/>
          </a:xfrm>
          <a:prstGeom prst="rect">
            <a:avLst/>
          </a:prstGeom>
          <a:solidFill>
            <a:srgbClr val="FFC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10527" y="3182112"/>
            <a:ext cx="4800600" cy="384048"/>
          </a:xfrm>
          <a:prstGeom prst="rect">
            <a:avLst/>
          </a:prstGeom>
          <a:noFill/>
        </p:spPr>
        <p:txBody>
          <a:bodyPr wrap="square" lIns="45720" rIns="45720">
            <a:spAutoFit/>
          </a:bodyPr>
          <a:lstStyle/>
          <a:p>
            <a:pPr>
              <a:defRPr sz="1400" b="1">
                <a:solidFill>
                  <a:srgbClr val="F5F8FF"/>
                </a:solidFill>
                <a:latin typeface="Aptos"/>
              </a:defRPr>
            </a:pPr>
            <a:r>
              <a:t>4. Why use a tool hub?</a:t>
            </a:r>
          </a:p>
        </p:txBody>
      </p:sp>
      <p:sp>
        <p:nvSpPr>
          <p:cNvPr id="22" name="TextBox 21"/>
          <p:cNvSpPr txBox="1"/>
          <p:nvPr/>
        </p:nvSpPr>
        <p:spPr>
          <a:xfrm>
            <a:off x="6510527" y="3675887"/>
            <a:ext cx="4782312" cy="384048"/>
          </a:xfrm>
          <a:prstGeom prst="rect">
            <a:avLst/>
          </a:prstGeom>
          <a:noFill/>
        </p:spPr>
        <p:txBody>
          <a:bodyPr wrap="square" lIns="45720" rIns="45720">
            <a:spAutoFit/>
          </a:bodyPr>
          <a:lstStyle/>
          <a:p>
            <a:pPr>
              <a:defRPr sz="1100" b="0">
                <a:solidFill>
                  <a:srgbClr val="B7C3DA"/>
                </a:solidFill>
                <a:latin typeface="Aptos"/>
              </a:defRPr>
            </a:pPr>
            <a:r>
              <a:t>It can reduce repeated searching and provide a familiar workflow.</a:t>
            </a:r>
          </a:p>
        </p:txBody>
      </p:sp>
      <p:sp>
        <p:nvSpPr>
          <p:cNvPr id="23" name="Rounded Rectangle 22"/>
          <p:cNvSpPr/>
          <p:nvPr/>
        </p:nvSpPr>
        <p:spPr>
          <a:xfrm>
            <a:off x="731520" y="4434840"/>
            <a:ext cx="5166360" cy="117043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 y="4599431"/>
            <a:ext cx="64008" cy="8412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4599431"/>
            <a:ext cx="4800600" cy="384048"/>
          </a:xfrm>
          <a:prstGeom prst="rect">
            <a:avLst/>
          </a:prstGeom>
          <a:noFill/>
        </p:spPr>
        <p:txBody>
          <a:bodyPr wrap="square" lIns="45720" rIns="45720">
            <a:spAutoFit/>
          </a:bodyPr>
          <a:lstStyle/>
          <a:p>
            <a:pPr>
              <a:defRPr sz="1400" b="1">
                <a:solidFill>
                  <a:srgbClr val="F5F8FF"/>
                </a:solidFill>
                <a:latin typeface="Aptos"/>
              </a:defRPr>
            </a:pPr>
            <a:r>
              <a:t>5. Is every tool fully private?</a:t>
            </a:r>
          </a:p>
        </p:txBody>
      </p:sp>
      <p:sp>
        <p:nvSpPr>
          <p:cNvPr id="26" name="TextBox 25"/>
          <p:cNvSpPr txBox="1"/>
          <p:nvPr/>
        </p:nvSpPr>
        <p:spPr>
          <a:xfrm>
            <a:off x="932688" y="5093207"/>
            <a:ext cx="4782312" cy="384048"/>
          </a:xfrm>
          <a:prstGeom prst="rect">
            <a:avLst/>
          </a:prstGeom>
          <a:noFill/>
        </p:spPr>
        <p:txBody>
          <a:bodyPr wrap="square" lIns="45720" rIns="45720">
            <a:spAutoFit/>
          </a:bodyPr>
          <a:lstStyle/>
          <a:p>
            <a:pPr>
              <a:defRPr sz="1100" b="0">
                <a:solidFill>
                  <a:srgbClr val="B7C3DA"/>
                </a:solidFill>
                <a:latin typeface="Aptos"/>
              </a:defRPr>
            </a:pPr>
            <a:r>
              <a:t>That must be checked tool by tool; some tasks may use servers or external services.</a:t>
            </a:r>
          </a:p>
        </p:txBody>
      </p:sp>
      <p:sp>
        <p:nvSpPr>
          <p:cNvPr id="27" name="Rounded Rectangle 26"/>
          <p:cNvSpPr/>
          <p:nvPr/>
        </p:nvSpPr>
        <p:spPr>
          <a:xfrm>
            <a:off x="6309359" y="4434840"/>
            <a:ext cx="5166360" cy="1170432"/>
          </a:xfrm>
          <a:prstGeom prst="roundRect">
            <a:avLst/>
          </a:prstGeom>
          <a:solidFill>
            <a:srgbClr val="162241"/>
          </a:solidFill>
          <a:ln>
            <a:solidFill>
              <a:srgbClr val="2C3E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09359" y="4599431"/>
            <a:ext cx="64008" cy="841248"/>
          </a:xfrm>
          <a:prstGeom prst="rect">
            <a:avLst/>
          </a:prstGeom>
          <a:solidFill>
            <a:srgbClr val="5BB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10527" y="4599431"/>
            <a:ext cx="4800600" cy="384048"/>
          </a:xfrm>
          <a:prstGeom prst="rect">
            <a:avLst/>
          </a:prstGeom>
          <a:noFill/>
        </p:spPr>
        <p:txBody>
          <a:bodyPr wrap="square" lIns="45720" rIns="45720">
            <a:spAutoFit/>
          </a:bodyPr>
          <a:lstStyle/>
          <a:p>
            <a:pPr>
              <a:defRPr sz="1400" b="1">
                <a:solidFill>
                  <a:srgbClr val="F5F8FF"/>
                </a:solidFill>
                <a:latin typeface="Aptos"/>
              </a:defRPr>
            </a:pPr>
            <a:r>
              <a:t>6. What would you improve?</a:t>
            </a:r>
          </a:p>
        </p:txBody>
      </p:sp>
      <p:sp>
        <p:nvSpPr>
          <p:cNvPr id="30" name="TextBox 29"/>
          <p:cNvSpPr txBox="1"/>
          <p:nvPr/>
        </p:nvSpPr>
        <p:spPr>
          <a:xfrm>
            <a:off x="6510527" y="5093207"/>
            <a:ext cx="4782312" cy="384048"/>
          </a:xfrm>
          <a:prstGeom prst="rect">
            <a:avLst/>
          </a:prstGeom>
          <a:noFill/>
        </p:spPr>
        <p:txBody>
          <a:bodyPr wrap="square" lIns="45720" rIns="45720">
            <a:spAutoFit/>
          </a:bodyPr>
          <a:lstStyle/>
          <a:p>
            <a:pPr>
              <a:defRPr sz="1100" b="0">
                <a:solidFill>
                  <a:srgbClr val="B7C3DA"/>
                </a:solidFill>
                <a:latin typeface="Aptos"/>
              </a:defRPr>
            </a:pPr>
            <a:r>
              <a:t>Better search, clear instructions, accessibility and transparent privacy details.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142B"/>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10972800" cy="256032"/>
          </a:xfrm>
          <a:prstGeom prst="rect">
            <a:avLst/>
          </a:prstGeom>
          <a:noFill/>
        </p:spPr>
        <p:txBody>
          <a:bodyPr wrap="square" lIns="45720" rIns="45720">
            <a:spAutoFit/>
          </a:bodyPr>
          <a:lstStyle/>
          <a:p>
            <a:pPr>
              <a:defRPr sz="1000" b="1">
                <a:solidFill>
                  <a:srgbClr val="27D7BE"/>
                </a:solidFill>
                <a:latin typeface="Aptos"/>
              </a:defRPr>
            </a:pPr>
            <a:r>
              <a:t>NEXORA PRO MAX ENHANCED</a:t>
            </a:r>
          </a:p>
        </p:txBody>
      </p:sp>
      <p:sp>
        <p:nvSpPr>
          <p:cNvPr id="3" name="TextBox 2"/>
          <p:cNvSpPr txBox="1"/>
          <p:nvPr/>
        </p:nvSpPr>
        <p:spPr>
          <a:xfrm>
            <a:off x="594360" y="621792"/>
            <a:ext cx="11064240" cy="566928"/>
          </a:xfrm>
          <a:prstGeom prst="rect">
            <a:avLst/>
          </a:prstGeom>
          <a:noFill/>
        </p:spPr>
        <p:txBody>
          <a:bodyPr wrap="square" lIns="45720" rIns="45720">
            <a:spAutoFit/>
          </a:bodyPr>
          <a:lstStyle/>
          <a:p>
            <a:pPr>
              <a:defRPr sz="2900" b="1">
                <a:solidFill>
                  <a:srgbClr val="F5F8FF"/>
                </a:solidFill>
                <a:latin typeface="Aptos"/>
              </a:defRPr>
            </a:pPr>
            <a:r>
              <a:t>Before presenting: 5-minute checklist</a:t>
            </a:r>
          </a:p>
        </p:txBody>
      </p:sp>
      <p:sp>
        <p:nvSpPr>
          <p:cNvPr id="4" name="Rectangle 3"/>
          <p:cNvSpPr/>
          <p:nvPr/>
        </p:nvSpPr>
        <p:spPr>
          <a:xfrm>
            <a:off x="594360" y="1298448"/>
            <a:ext cx="1143000" cy="41148"/>
          </a:xfrm>
          <a:prstGeom prst="rect">
            <a:avLst/>
          </a:prstGeom>
          <a:solidFill>
            <a:srgbClr val="27D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9601200" cy="182880"/>
          </a:xfrm>
          <a:prstGeom prst="rect">
            <a:avLst/>
          </a:prstGeom>
          <a:noFill/>
        </p:spPr>
        <p:txBody>
          <a:bodyPr wrap="square" lIns="45720" rIns="45720">
            <a:spAutoFit/>
          </a:bodyPr>
          <a:lstStyle/>
          <a:p>
            <a:pPr>
              <a:defRPr sz="800" b="0">
                <a:solidFill>
                  <a:srgbClr val="B7C3DA"/>
                </a:solidFill>
                <a:latin typeface="Aptos"/>
              </a:defRPr>
            </a:pPr>
            <a:r>
              <a:t>PROJECT PRESENTATION  •  COLLEGE / REAL-LIFE USE CASES</a:t>
            </a:r>
          </a:p>
        </p:txBody>
      </p:sp>
      <p:sp>
        <p:nvSpPr>
          <p:cNvPr id="6" name="TextBox 5"/>
          <p:cNvSpPr txBox="1"/>
          <p:nvPr/>
        </p:nvSpPr>
        <p:spPr>
          <a:xfrm>
            <a:off x="11109960" y="6473952"/>
            <a:ext cx="457200" cy="219456"/>
          </a:xfrm>
          <a:prstGeom prst="rect">
            <a:avLst/>
          </a:prstGeom>
          <a:noFill/>
        </p:spPr>
        <p:txBody>
          <a:bodyPr wrap="square" lIns="45720" rIns="45720">
            <a:spAutoFit/>
          </a:bodyPr>
          <a:lstStyle/>
          <a:p>
            <a:pPr algn="r">
              <a:defRPr sz="1000" b="1">
                <a:solidFill>
                  <a:srgbClr val="27D7BE"/>
                </a:solidFill>
                <a:latin typeface="Aptos"/>
              </a:defRPr>
            </a:pPr>
            <a:r>
              <a:t>19</a:t>
            </a:r>
          </a:p>
        </p:txBody>
      </p:sp>
      <p:sp>
        <p:nvSpPr>
          <p:cNvPr id="7" name="TextBox 6"/>
          <p:cNvSpPr txBox="1"/>
          <p:nvPr/>
        </p:nvSpPr>
        <p:spPr>
          <a:xfrm>
            <a:off x="822960" y="1645920"/>
            <a:ext cx="10515600" cy="4206240"/>
          </a:xfrm>
          <a:prstGeom prst="rect">
            <a:avLst/>
          </a:prstGeom>
          <a:noFill/>
        </p:spPr>
        <p:txBody>
          <a:bodyPr wrap="square" lIns="36576" tIns="18288" rIns="36576" bIns="18288">
            <a:spAutoFit/>
          </a:bodyPr>
          <a:lstStyle/>
          <a:p>
            <a:pPr>
              <a:spcAft>
                <a:spcPts val="1000"/>
              </a:spcAft>
              <a:defRPr sz="1800">
                <a:solidFill>
                  <a:srgbClr val="F5F8FF"/>
                </a:solidFill>
                <a:latin typeface="Aptos"/>
              </a:defRPr>
            </a:pPr>
            <a:r>
              <a:t>•  Open the actual HTML website and confirm each tool named in this deck.</a:t>
            </a:r>
          </a:p>
          <a:p>
            <a:pPr>
              <a:spcAft>
                <a:spcPts val="1000"/>
              </a:spcAft>
              <a:defRPr sz="1800">
                <a:solidFill>
                  <a:srgbClr val="F5F8FF"/>
                </a:solidFill>
                <a:latin typeface="Aptos"/>
              </a:defRPr>
            </a:pPr>
            <a:r>
              <a:t>•  Replace any example category that is not present in your version.</a:t>
            </a:r>
          </a:p>
          <a:p>
            <a:pPr>
              <a:spcAft>
                <a:spcPts val="1000"/>
              </a:spcAft>
              <a:defRPr sz="1800">
                <a:solidFill>
                  <a:srgbClr val="F5F8FF"/>
                </a:solidFill>
                <a:latin typeface="Aptos"/>
              </a:defRPr>
            </a:pPr>
            <a:r>
              <a:t>•  Test one PDF/image/text/QR/developer tool live, if available.</a:t>
            </a:r>
          </a:p>
          <a:p>
            <a:pPr>
              <a:spcAft>
                <a:spcPts val="1000"/>
              </a:spcAft>
              <a:defRPr sz="1800">
                <a:solidFill>
                  <a:srgbClr val="F5F8FF"/>
                </a:solidFill>
                <a:latin typeface="Aptos"/>
              </a:defRPr>
            </a:pPr>
            <a:r>
              <a:t>•  Prepare a sample file that contains no private or sensitive information.</a:t>
            </a:r>
          </a:p>
          <a:p>
            <a:pPr>
              <a:spcAft>
                <a:spcPts val="1000"/>
              </a:spcAft>
              <a:defRPr sz="1800">
                <a:solidFill>
                  <a:srgbClr val="F5F8FF"/>
                </a:solidFill>
                <a:latin typeface="Aptos"/>
              </a:defRPr>
            </a:pPr>
            <a:r>
              <a:t>•  Check downloads, outputs and mobile layout before the presentation.</a:t>
            </a:r>
          </a:p>
          <a:p>
            <a:pPr>
              <a:spcAft>
                <a:spcPts val="1000"/>
              </a:spcAft>
              <a:defRPr sz="1800">
                <a:solidFill>
                  <a:srgbClr val="F5F8FF"/>
                </a:solidFill>
                <a:latin typeface="Aptos"/>
              </a:defRPr>
            </a:pPr>
            <a:r>
              <a:t>•  Fill in your college name, department, guide name and date.</a:t>
            </a:r>
          </a:p>
        </p:txBody>
      </p:sp>
      <p:sp>
        <p:nvSpPr>
          <p:cNvPr id="8" name="TextBox 7"/>
          <p:cNvSpPr txBox="1"/>
          <p:nvPr/>
        </p:nvSpPr>
        <p:spPr>
          <a:xfrm>
            <a:off x="868680" y="5623560"/>
            <a:ext cx="10515600" cy="411480"/>
          </a:xfrm>
          <a:prstGeom prst="rect">
            <a:avLst/>
          </a:prstGeom>
          <a:noFill/>
        </p:spPr>
        <p:txBody>
          <a:bodyPr wrap="square" lIns="45720" rIns="45720">
            <a:spAutoFit/>
          </a:bodyPr>
          <a:lstStyle/>
          <a:p>
            <a:pPr>
              <a:defRPr sz="1100" b="1">
                <a:solidFill>
                  <a:srgbClr val="FFC75F"/>
                </a:solidFill>
                <a:latin typeface="Aptos"/>
              </a:defRPr>
            </a:pPr>
            <a:r>
              <a:t>Important: this deck is a polished presentation draft based on a general multi-tool website concept, not a verified inspection of your local HTML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1897</Words>
  <Application>Microsoft Office PowerPoint</Application>
  <PresentationFormat>Widescreen</PresentationFormat>
  <Paragraphs>226</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Shubham Verma</dc:creator>
  <cp:keywords/>
  <dc:description>generated using python-pptx</dc:description>
  <cp:lastModifiedBy>Shubham Verma</cp:lastModifiedBy>
  <cp:revision>2</cp:revision>
  <dcterms:created xsi:type="dcterms:W3CDTF">2013-01-27T09:14:16Z</dcterms:created>
  <dcterms:modified xsi:type="dcterms:W3CDTF">2026-10-19T07:17:45Z</dcterms:modified>
  <cp:category/>
</cp:coreProperties>
</file>